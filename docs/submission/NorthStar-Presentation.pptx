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Two-sentence hook.</a:t>
            </a:r>
          </a:p>
          <a:p>
            <a:r>
              <a:t>NorthStar answers one question for a small real-estate investor: should I buy this property? The numbers are deterministic Python. The local rules come from AI research that runs itself and cites every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[0:20-1:10] Lead with the proof, not the premise.</a:t>
            </a:r>
          </a:p>
          <a:p>
            <a:r>
              <a:t>Maryland Heights lets an investor run an STR if the owner OR a manager is within an hour. Ballwin, two ZIPs away, requires the owner to live there 180 days a year - so a pure investment property cannot do it at all. Same county, same state law, opposite answers. If you underwrite Ballwin using Maryland Heights' rule, your entire revenue model is fiction. That is the gap we built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[1:10-1:55] The one-sentence architecture. The screenshot is the point - let them look.</a:t>
            </a:r>
          </a:p>
          <a:p>
            <a:r>
              <a:t>Two layers that never mix. The financial model is ordinary Python - we deliberately kept the LLM out of the arithmetic, because a hallucinated IRR is worse than no IRR. The AI does the part it is actually good at: reading the web and citing sources. They meet only at the decision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[1:55-2:25] Only 30 seconds. Say TWO of the four out loud - 1 and 3 land best - and let the slide carry the others.</a:t>
            </a:r>
          </a:p>
          <a:p>
            <a:r>
              <a:t>Decision 3 is the one we are proudest of. Our first build made the app call an API directly, which meant every user needed their own key. We realised the Skill is just instructions - so we run it inside a CLI the user is already logged into. Setup went from 'get an API key' to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[2:25-4:15] The longest block - 110 seconds. Pre-load the app; do not set up on stage, and have the recorded backup queued.</a:t>
            </a:r>
          </a:p>
          <a:p>
            <a:r>
              <a:t>Say the before/after out loud: before research the model assumed short-term rental income; after, the app flags it unavailable, policy risk goes medium to HIGH, and high-attention risks go from two to five.</a:t>
            </a:r>
          </a:p>
          <a:p>
            <a:r>
              <a:t>Do NOT say research flipped the recommendation - on this property it was already Reject on cash flow. The honest claim is that the reasoning changed, and on a marginal deal it would flip the decision.</a:t>
            </a:r>
          </a:p>
          <a:p>
            <a:r>
              <a:t>If time is short, cut the Policy Brief step and keep the research-runs-itself moment.</a:t>
            </a:r>
          </a:p>
          <a:p>
            <a:r>
              <a:t>Worth 15 seconds if it fits: a note in our repo for Wildwood 63038 was researched by the app unattended, 20 official citations, nobody triggered it by hand.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Do not read the cards; point at them.</a:t>
            </a:r>
          </a:p>
          <a:p>
            <a:r>
              <a:t>Threat model: this is a local app, so the realistic risk is not a remote attacker - it is untrusted text. Policy notes come from the open web and from PDFs a user drops in, and those get rendered into a document handed to a client. So we escape everything and validate before saving.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[4:45-5:00] Close on the lesson, not a summary.</a:t>
            </a:r>
          </a:p>
          <a:p>
            <a:r>
              <a:t>If asked what you would build next, or about data sources, lead with the API item: policy is researched live, but rent and comps are still a bundled state-level sample, and the report labels that low confidence rather than hiding it. Owning that gap is stronger than being caught by it.</a:t>
            </a:r>
          </a:p>
          <a:p>
            <a:r>
              <a:t>The biggest shift: we spent our time writing standards - what counts as a verified fact, when to say 'unverified' - rather than wiring steps together. The agent handled the how, including recovering when a government site blocked it. That is a different job from programming a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74519"/>
            <a:ext cx="10362895" cy="3108960"/>
          </a:xfrm>
          <a:prstGeom prst="rect">
            <a:avLst/>
          </a:prstGeom>
          <a:noFill/>
        </p:spPr>
        <p:txBody>
          <a:bodyPr wrap="square">
            <a:spAutoFit/>
          </a:bodyPr>
          <a:lstStyle/>
          <a:p>
            <a:pPr>
              <a:spcAft>
                <a:spcPts val="1400"/>
              </a:spcAft>
            </a:pPr>
            <a:r>
              <a:rPr sz="1300" b="1">
                <a:solidFill>
                  <a:srgbClr val="EAF3F0"/>
                </a:solidFill>
                <a:latin typeface="Segoe UI"/>
              </a:rPr>
              <a:t>BUKD-X500 · AGENTIC AI SYSTEMS · DESIGN STUDIO</a:t>
            </a:r>
          </a:p>
          <a:p>
            <a:pPr>
              <a:spcAft>
                <a:spcPts val="0"/>
              </a:spcAft>
            </a:pPr>
            <a:r>
              <a:rPr sz="5200" b="1">
                <a:solidFill>
                  <a:srgbClr val="FFFFFF"/>
                </a:solidFill>
                <a:latin typeface="Segoe UI"/>
              </a:rPr>
              <a:t>NorthStar</a:t>
            </a:r>
          </a:p>
          <a:p>
            <a:pPr>
              <a:spcAft>
                <a:spcPts val="2200"/>
              </a:spcAft>
            </a:pPr>
            <a:r>
              <a:rPr sz="3000" b="0">
                <a:solidFill>
                  <a:srgbClr val="EAF3F0"/>
                </a:solidFill>
                <a:latin typeface="Segoe UI"/>
              </a:rPr>
              <a:t>Property Investment Consulting</a:t>
            </a:r>
          </a:p>
          <a:p>
            <a:pPr>
              <a:spcAft>
                <a:spcPts val="600"/>
              </a:spcAft>
            </a:pPr>
            <a:r>
              <a:rPr sz="2200" b="1">
                <a:solidFill>
                  <a:srgbClr val="FFFFFF"/>
                </a:solidFill>
                <a:latin typeface="Segoe UI"/>
              </a:rPr>
              <a:t>“Should I buy this property?”</a:t>
            </a:r>
          </a:p>
          <a:p>
            <a:pPr>
              <a:spcAft>
                <a:spcPts val="2600"/>
              </a:spcAft>
            </a:pPr>
            <a:r>
              <a:rPr sz="1700" b="0">
                <a:solidFill>
                  <a:srgbClr val="EAF3F0"/>
                </a:solidFill>
                <a:latin typeface="Segoe UI"/>
              </a:rPr>
              <a:t>Answered with auditable numbers and current local rules.</a:t>
            </a:r>
          </a:p>
          <a:p>
            <a:pPr>
              <a:spcAft>
                <a:spcPts val="400"/>
              </a:spcAft>
            </a:pPr>
            <a:r>
              <a:rPr sz="1500" b="1">
                <a:solidFill>
                  <a:srgbClr val="FFFFFF"/>
                </a:solidFill>
                <a:latin typeface="Segoe UI"/>
              </a:rPr>
              <a:t>Team 5 · Ashish Nath · Justin Kretschman</a:t>
            </a:r>
          </a:p>
          <a:p>
            <a:pPr>
              <a:spcAft>
                <a:spcPts val="0"/>
              </a:spcAft>
            </a:pPr>
            <a:r>
              <a:rPr sz="1300" b="0">
                <a:solidFill>
                  <a:srgbClr val="EAF3F0"/>
                </a:solidFill>
                <a:latin typeface="Segoe UI"/>
              </a:rPr>
              <a:t>github.com/AsisNath/Real-Estate-Investment-Decision-Support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THE PROBLEM</a:t>
            </a:r>
          </a:p>
          <a:p>
            <a:pPr>
              <a:spcAft>
                <a:spcPts val="0"/>
              </a:spcAft>
            </a:pPr>
            <a:r>
              <a:rPr sz="3000" b="1">
                <a:solidFill>
                  <a:srgbClr val="1F2733"/>
                </a:solidFill>
                <a:latin typeface="Segoe UI"/>
              </a:rPr>
              <a:t>The same question, two answers, two ZIP codes apart</a:t>
            </a:r>
          </a:p>
        </p:txBody>
      </p:sp>
      <p:sp>
        <p:nvSpPr>
          <p:cNvPr id="4" name="TextBox 3"/>
          <p:cNvSpPr txBox="1"/>
          <p:nvPr/>
        </p:nvSpPr>
        <p:spPr>
          <a:xfrm>
            <a:off x="594360" y="1481328"/>
            <a:ext cx="5806440" cy="4023360"/>
          </a:xfrm>
          <a:prstGeom prst="rect">
            <a:avLst/>
          </a:prstGeom>
          <a:noFill/>
        </p:spPr>
        <p:txBody>
          <a:bodyPr wrap="square">
            <a:spAutoFit/>
          </a:bodyPr>
          <a:lstStyle/>
          <a:p>
            <a:pPr>
              <a:spcAft>
                <a:spcPts val="900"/>
              </a:spcAft>
            </a:pPr>
            <a:r>
              <a:rPr sz="1600" b="0">
                <a:solidFill>
                  <a:srgbClr val="1F2733"/>
                </a:solidFill>
                <a:latin typeface="Segoe UI"/>
              </a:rPr>
              <a:t>A small investor decides with a spreadsheet plus whatever Google returns.</a:t>
            </a:r>
          </a:p>
          <a:p>
            <a:pPr>
              <a:spcAft>
                <a:spcPts val="900"/>
              </a:spcAft>
            </a:pPr>
            <a:r>
              <a:rPr sz="1600" b="0">
                <a:solidFill>
                  <a:srgbClr val="1F2733"/>
                </a:solidFill>
                <a:latin typeface="Segoe UI"/>
              </a:rPr>
              <a:t>Rental rules are hyper-local, change often, and the top search results are property-management blogs that go stale silently.</a:t>
            </a:r>
          </a:p>
          <a:p>
            <a:pPr>
              <a:spcAft>
                <a:spcPts val="900"/>
              </a:spcAft>
            </a:pPr>
            <a:r>
              <a:rPr sz="1600" b="0">
                <a:solidFill>
                  <a:srgbClr val="1F2733"/>
                </a:solidFill>
                <a:latin typeface="Segoe UI"/>
              </a:rPr>
              <a:t>Model short-term-rental income on a property where STR is illegal and every number downstream is wrong - IRR, cash flow, the recommendation.</a:t>
            </a:r>
          </a:p>
        </p:txBody>
      </p:sp>
      <p:sp>
        <p:nvSpPr>
          <p:cNvPr id="5" name="TextBox 4"/>
          <p:cNvSpPr txBox="1"/>
          <p:nvPr/>
        </p:nvSpPr>
        <p:spPr>
          <a:xfrm>
            <a:off x="6629400" y="1463040"/>
            <a:ext cx="4937760" cy="365760"/>
          </a:xfrm>
          <a:prstGeom prst="rect">
            <a:avLst/>
          </a:prstGeom>
          <a:noFill/>
        </p:spPr>
        <p:txBody>
          <a:bodyPr wrap="square">
            <a:spAutoFit/>
          </a:bodyPr>
          <a:lstStyle/>
          <a:p>
            <a:pPr>
              <a:spcAft>
                <a:spcPts val="0"/>
              </a:spcAft>
            </a:pPr>
            <a:r>
              <a:rPr sz="1500" b="1">
                <a:solidFill>
                  <a:srgbClr val="1F2733"/>
                </a:solidFill>
                <a:latin typeface="Segoe UI"/>
              </a:rPr>
              <a:t>We found this in our own test data:</a:t>
            </a:r>
          </a:p>
        </p:txBody>
      </p:sp>
      <p:sp>
        <p:nvSpPr>
          <p:cNvPr id="6" name="Rounded Rectangle 5"/>
          <p:cNvSpPr/>
          <p:nvPr/>
        </p:nvSpPr>
        <p:spPr>
          <a:xfrm>
            <a:off x="6629400" y="1938528"/>
            <a:ext cx="4937760" cy="1298448"/>
          </a:xfrm>
          <a:prstGeom prst="roundRect">
            <a:avLst/>
          </a:prstGeom>
          <a:solidFill>
            <a:srgbClr val="FFFFFF"/>
          </a:solidFill>
          <a:ln>
            <a:solidFill>
              <a:srgbClr val="1D5C4D"/>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spcAft>
                <a:spcPts val="300"/>
              </a:spcAft>
            </a:pPr>
            <a:r>
              <a:rPr sz="1400" b="1">
                <a:solidFill>
                  <a:srgbClr val="1D5C4D"/>
                </a:solidFill>
                <a:latin typeface="Segoe UI"/>
              </a:rPr>
              <a:t>63043 · Maryland Heights, MO</a:t>
            </a:r>
          </a:p>
          <a:p>
            <a:pPr algn="l">
              <a:spcAft>
                <a:spcPts val="0"/>
              </a:spcAft>
            </a:pPr>
            <a:r>
              <a:rPr sz="1300" b="0">
                <a:solidFill>
                  <a:srgbClr val="1F2733"/>
                </a:solidFill>
                <a:latin typeface="Segoe UI"/>
              </a:rPr>
              <a:t>STR allowed for investors</a:t>
            </a:r>
            <a:br/>
            <a:r>
              <a:rPr sz="1300" b="0">
                <a:solidFill>
                  <a:srgbClr val="1F2733"/>
                </a:solidFill>
                <a:latin typeface="Segoe UI"/>
              </a:rPr>
              <a:t>owner OR manager within 1 hour</a:t>
            </a:r>
          </a:p>
        </p:txBody>
      </p:sp>
      <p:sp>
        <p:nvSpPr>
          <p:cNvPr id="7" name="Rounded Rectangle 6"/>
          <p:cNvSpPr/>
          <p:nvPr/>
        </p:nvSpPr>
        <p:spPr>
          <a:xfrm>
            <a:off x="6629400" y="3419856"/>
            <a:ext cx="4937760" cy="1298448"/>
          </a:xfrm>
          <a:prstGeom prst="roundRect">
            <a:avLst/>
          </a:prstGeom>
          <a:solidFill>
            <a:srgbClr val="FFFFFF"/>
          </a:solidFill>
          <a:ln>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spcAft>
                <a:spcPts val="300"/>
              </a:spcAft>
            </a:pPr>
            <a:r>
              <a:rPr sz="1400" b="1">
                <a:solidFill>
                  <a:srgbClr val="B3261E"/>
                </a:solidFill>
                <a:latin typeface="Segoe UI"/>
              </a:rPr>
              <a:t>63021 · Ballwin, MO</a:t>
            </a:r>
          </a:p>
          <a:p>
            <a:pPr algn="l">
              <a:spcAft>
                <a:spcPts val="0"/>
              </a:spcAft>
            </a:pPr>
            <a:r>
              <a:rPr sz="1300" b="0">
                <a:solidFill>
                  <a:srgbClr val="1F2733"/>
                </a:solidFill>
                <a:latin typeface="Segoe UI"/>
              </a:rPr>
              <a:t>STR closed to investors</a:t>
            </a:r>
            <a:br/>
            <a:r>
              <a:rPr sz="1300" b="0">
                <a:solidFill>
                  <a:srgbClr val="1F2733"/>
                </a:solidFill>
                <a:latin typeface="Segoe UI"/>
              </a:rPr>
              <a:t>owner must live there 180 days/yr</a:t>
            </a:r>
          </a:p>
        </p:txBody>
      </p:sp>
      <p:sp>
        <p:nvSpPr>
          <p:cNvPr id="8" name="TextBox 7"/>
          <p:cNvSpPr txBox="1"/>
          <p:nvPr/>
        </p:nvSpPr>
        <p:spPr>
          <a:xfrm>
            <a:off x="6629400" y="4983480"/>
            <a:ext cx="4937760" cy="1371600"/>
          </a:xfrm>
          <a:prstGeom prst="rect">
            <a:avLst/>
          </a:prstGeom>
          <a:noFill/>
        </p:spPr>
        <p:txBody>
          <a:bodyPr wrap="square">
            <a:spAutoFit/>
          </a:bodyPr>
          <a:lstStyle/>
          <a:p>
            <a:pPr>
              <a:spcAft>
                <a:spcPts val="600"/>
              </a:spcAft>
            </a:pPr>
            <a:r>
              <a:rPr sz="1600" b="1">
                <a:solidFill>
                  <a:srgbClr val="B3261E"/>
                </a:solidFill>
                <a:latin typeface="Segoe UI"/>
              </a:rPr>
              <a:t>Same state. Same county. Same statutes.</a:t>
            </a:r>
            <a:br/>
            <a:r>
              <a:rPr sz="1600" b="1">
                <a:solidFill>
                  <a:srgbClr val="B3261E"/>
                </a:solidFill>
                <a:latin typeface="Segoe UI"/>
              </a:rPr>
              <a:t>Opposite conclusions.</a:t>
            </a:r>
          </a:p>
          <a:p>
            <a:pPr>
              <a:spcAft>
                <a:spcPts val="0"/>
              </a:spcAft>
            </a:pPr>
            <a:r>
              <a:rPr sz="1300" b="0">
                <a:solidFill>
                  <a:srgbClr val="5B6B7C"/>
                </a:solidFill>
                <a:latin typeface="Segoe UI"/>
              </a:rPr>
              <a:t>No static dataset catches that. It has to be researched, per address, and kept fresh.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WHAT WE BUILT</a:t>
            </a:r>
          </a:p>
          <a:p>
            <a:pPr>
              <a:spcAft>
                <a:spcPts val="0"/>
              </a:spcAft>
            </a:pPr>
            <a:r>
              <a:rPr sz="3000" b="1">
                <a:solidFill>
                  <a:srgbClr val="1F2733"/>
                </a:solidFill>
                <a:latin typeface="Segoe UI"/>
              </a:rPr>
              <a:t>Two layers that never mix</a:t>
            </a:r>
          </a:p>
        </p:txBody>
      </p:sp>
      <p:sp>
        <p:nvSpPr>
          <p:cNvPr id="4" name="TextBox 3"/>
          <p:cNvSpPr txBox="1"/>
          <p:nvPr/>
        </p:nvSpPr>
        <p:spPr>
          <a:xfrm>
            <a:off x="594360" y="1554480"/>
            <a:ext cx="5029200" cy="4206240"/>
          </a:xfrm>
          <a:prstGeom prst="rect">
            <a:avLst/>
          </a:prstGeom>
          <a:noFill/>
        </p:spPr>
        <p:txBody>
          <a:bodyPr wrap="square">
            <a:spAutoFit/>
          </a:bodyPr>
          <a:lstStyle/>
          <a:p>
            <a:pPr>
              <a:spcAft>
                <a:spcPts val="200"/>
              </a:spcAft>
            </a:pPr>
            <a:r>
              <a:rPr sz="1900" b="1">
                <a:solidFill>
                  <a:srgbClr val="1D5C4D"/>
                </a:solidFill>
                <a:latin typeface="Segoe UI"/>
              </a:rPr>
              <a:t>1 · The math</a:t>
            </a:r>
          </a:p>
          <a:p>
            <a:pPr>
              <a:spcAft>
                <a:spcPts val="1600"/>
              </a:spcAft>
            </a:pPr>
            <a:r>
              <a:rPr sz="1500" b="0">
                <a:solidFill>
                  <a:srgbClr val="5B6B7C"/>
                </a:solidFill>
                <a:latin typeface="Segoe UI"/>
              </a:rPr>
              <a:t>Plain Python. Unit-tested. No model touches a number.</a:t>
            </a:r>
          </a:p>
          <a:p>
            <a:pPr>
              <a:spcAft>
                <a:spcPts val="200"/>
              </a:spcAft>
            </a:pPr>
            <a:r>
              <a:rPr sz="1900" b="1">
                <a:solidFill>
                  <a:srgbClr val="1D5C4D"/>
                </a:solidFill>
                <a:latin typeface="Segoe UI"/>
              </a:rPr>
              <a:t>2 · The rules</a:t>
            </a:r>
          </a:p>
          <a:p>
            <a:pPr>
              <a:spcAft>
                <a:spcPts val="1600"/>
              </a:spcAft>
            </a:pPr>
            <a:r>
              <a:rPr sz="1500" b="0">
                <a:solidFill>
                  <a:srgbClr val="5B6B7C"/>
                </a:solidFill>
                <a:latin typeface="Segoe UI"/>
              </a:rPr>
              <a:t>An Agent Skill researches local law with live web search</a:t>
            </a:r>
            <a:br/>
            <a:r>
              <a:rPr sz="1500" b="0">
                <a:solidFill>
                  <a:srgbClr val="5B6B7C"/>
                </a:solidFill>
                <a:latin typeface="Segoe UI"/>
              </a:rPr>
              <a:t>and cites every source.</a:t>
            </a:r>
          </a:p>
          <a:p>
            <a:pPr>
              <a:spcAft>
                <a:spcPts val="200"/>
              </a:spcAft>
            </a:pPr>
            <a:r>
              <a:rPr sz="1900" b="1">
                <a:solidFill>
                  <a:srgbClr val="1F2733"/>
                </a:solidFill>
                <a:latin typeface="Segoe UI"/>
              </a:rPr>
              <a:t>They meet at the decision</a:t>
            </a:r>
          </a:p>
          <a:p>
            <a:pPr>
              <a:spcAft>
                <a:spcPts val="1400"/>
              </a:spcAft>
            </a:pPr>
            <a:r>
              <a:rPr sz="1500" b="0">
                <a:solidFill>
                  <a:srgbClr val="5B6B7C"/>
                </a:solidFill>
                <a:latin typeface="Segoe UI"/>
              </a:rPr>
              <a:t>Findings become risk flags, diligence items,</a:t>
            </a:r>
            <a:br/>
            <a:r>
              <a:rPr sz="1500" b="0">
                <a:solidFill>
                  <a:srgbClr val="5B6B7C"/>
                </a:solidFill>
                <a:latin typeface="Segoe UI"/>
              </a:rPr>
              <a:t>and conflicts with your own assumptions.</a:t>
            </a:r>
          </a:p>
          <a:p>
            <a:pPr>
              <a:spcAft>
                <a:spcPts val="0"/>
              </a:spcAft>
            </a:pPr>
            <a:r>
              <a:rPr sz="1500" b="1">
                <a:solidFill>
                  <a:srgbClr val="B3261E"/>
                </a:solidFill>
                <a:latin typeface="Segoe UI"/>
              </a:rPr>
              <a:t>Research never blocks the report.</a:t>
            </a:r>
          </a:p>
        </p:txBody>
      </p:sp>
      <p:pic>
        <p:nvPicPr>
          <p:cNvPr id="5" name="Picture 4" descr="02-investor-report.png"/>
          <p:cNvPicPr>
            <a:picLocks noChangeAspect="1"/>
          </p:cNvPicPr>
          <p:nvPr/>
        </p:nvPicPr>
        <p:blipFill>
          <a:blip r:embed="rId2"/>
          <a:stretch>
            <a:fillRect/>
          </a:stretch>
        </p:blipFill>
        <p:spPr>
          <a:xfrm>
            <a:off x="5989320" y="1234440"/>
            <a:ext cx="5623560" cy="5744065"/>
          </a:xfrm>
          <a:prstGeom prst="rect">
            <a:avLst/>
          </a:prstGeom>
          <a:ln w="9525">
            <a:solidFill>
              <a:srgbClr val="D9E0E7"/>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DESIGN &amp; APPROACH</a:t>
            </a:r>
          </a:p>
          <a:p>
            <a:pPr>
              <a:spcAft>
                <a:spcPts val="0"/>
              </a:spcAft>
            </a:pPr>
            <a:r>
              <a:rPr sz="3000" b="1">
                <a:solidFill>
                  <a:srgbClr val="1F2733"/>
                </a:solidFill>
                <a:latin typeface="Segoe UI"/>
              </a:rPr>
              <a:t>Four decisions we would defend</a:t>
            </a:r>
          </a:p>
        </p:txBody>
      </p:sp>
      <p:sp>
        <p:nvSpPr>
          <p:cNvPr id="4" name="TextBox 3"/>
          <p:cNvSpPr txBox="1"/>
          <p:nvPr/>
        </p:nvSpPr>
        <p:spPr>
          <a:xfrm>
            <a:off x="594360" y="1581912"/>
            <a:ext cx="640080" cy="731520"/>
          </a:xfrm>
          <a:prstGeom prst="rect">
            <a:avLst/>
          </a:prstGeom>
          <a:noFill/>
        </p:spPr>
        <p:txBody>
          <a:bodyPr wrap="square">
            <a:spAutoFit/>
          </a:bodyPr>
          <a:lstStyle/>
          <a:p>
            <a:pPr>
              <a:spcAft>
                <a:spcPts val="0"/>
              </a:spcAft>
            </a:pPr>
            <a:r>
              <a:rPr sz="3400" b="1">
                <a:solidFill>
                  <a:srgbClr val="9CC0B4"/>
                </a:solidFill>
                <a:latin typeface="Segoe UI"/>
              </a:rPr>
              <a:t>1</a:t>
            </a:r>
          </a:p>
        </p:txBody>
      </p:sp>
      <p:sp>
        <p:nvSpPr>
          <p:cNvPr id="5" name="TextBox 4"/>
          <p:cNvSpPr txBox="1"/>
          <p:nvPr/>
        </p:nvSpPr>
        <p:spPr>
          <a:xfrm>
            <a:off x="1234440" y="1691640"/>
            <a:ext cx="10362895" cy="1005840"/>
          </a:xfrm>
          <a:prstGeom prst="rect">
            <a:avLst/>
          </a:prstGeom>
          <a:noFill/>
        </p:spPr>
        <p:txBody>
          <a:bodyPr wrap="square">
            <a:spAutoFit/>
          </a:bodyPr>
          <a:lstStyle/>
          <a:p>
            <a:pPr>
              <a:spcAft>
                <a:spcPts val="100"/>
              </a:spcAft>
            </a:pPr>
            <a:r>
              <a:rPr sz="2000" b="1">
                <a:solidFill>
                  <a:srgbClr val="1F2733"/>
                </a:solidFill>
                <a:latin typeface="Segoe UI"/>
              </a:rPr>
              <a:t>Keep the LLM out of the arithmetic</a:t>
            </a:r>
          </a:p>
          <a:p>
            <a:pPr>
              <a:spcAft>
                <a:spcPts val="0"/>
              </a:spcAft>
            </a:pPr>
            <a:r>
              <a:rPr sz="1400" b="0">
                <a:solidFill>
                  <a:srgbClr val="5B6B7C"/>
                </a:solidFill>
                <a:latin typeface="Segoe UI"/>
              </a:rPr>
              <a:t>A hallucinated IRR is worse than none</a:t>
            </a:r>
          </a:p>
        </p:txBody>
      </p:sp>
      <p:sp>
        <p:nvSpPr>
          <p:cNvPr id="6" name="TextBox 5"/>
          <p:cNvSpPr txBox="1"/>
          <p:nvPr/>
        </p:nvSpPr>
        <p:spPr>
          <a:xfrm>
            <a:off x="594360" y="2752344"/>
            <a:ext cx="640080" cy="731520"/>
          </a:xfrm>
          <a:prstGeom prst="rect">
            <a:avLst/>
          </a:prstGeom>
          <a:noFill/>
        </p:spPr>
        <p:txBody>
          <a:bodyPr wrap="square">
            <a:spAutoFit/>
          </a:bodyPr>
          <a:lstStyle/>
          <a:p>
            <a:pPr>
              <a:spcAft>
                <a:spcPts val="0"/>
              </a:spcAft>
            </a:pPr>
            <a:r>
              <a:rPr sz="3400" b="1">
                <a:solidFill>
                  <a:srgbClr val="9CC0B4"/>
                </a:solidFill>
                <a:latin typeface="Segoe UI"/>
              </a:rPr>
              <a:t>2</a:t>
            </a:r>
          </a:p>
        </p:txBody>
      </p:sp>
      <p:sp>
        <p:nvSpPr>
          <p:cNvPr id="7" name="TextBox 6"/>
          <p:cNvSpPr txBox="1"/>
          <p:nvPr/>
        </p:nvSpPr>
        <p:spPr>
          <a:xfrm>
            <a:off x="1234440" y="2862072"/>
            <a:ext cx="10362895" cy="1005840"/>
          </a:xfrm>
          <a:prstGeom prst="rect">
            <a:avLst/>
          </a:prstGeom>
          <a:noFill/>
        </p:spPr>
        <p:txBody>
          <a:bodyPr wrap="square">
            <a:spAutoFit/>
          </a:bodyPr>
          <a:lstStyle/>
          <a:p>
            <a:pPr>
              <a:spcAft>
                <a:spcPts val="100"/>
              </a:spcAft>
            </a:pPr>
            <a:r>
              <a:rPr sz="2000" b="1">
                <a:solidFill>
                  <a:srgbClr val="1F2733"/>
                </a:solidFill>
                <a:latin typeface="Segoe UI"/>
              </a:rPr>
              <a:t>Provenance enforced in code</a:t>
            </a:r>
          </a:p>
          <a:p>
            <a:pPr>
              <a:spcAft>
                <a:spcPts val="0"/>
              </a:spcAft>
            </a:pPr>
            <a:r>
              <a:rPr sz="1400" b="0">
                <a:solidFill>
                  <a:srgbClr val="5B6B7C"/>
                </a:solidFill>
                <a:latin typeface="Segoe UI"/>
              </a:rPr>
              <a:t>AI-written and human-written notes cannot mix</a:t>
            </a:r>
          </a:p>
        </p:txBody>
      </p:sp>
      <p:sp>
        <p:nvSpPr>
          <p:cNvPr id="8" name="TextBox 7"/>
          <p:cNvSpPr txBox="1"/>
          <p:nvPr/>
        </p:nvSpPr>
        <p:spPr>
          <a:xfrm>
            <a:off x="594360" y="3922776"/>
            <a:ext cx="640080" cy="731520"/>
          </a:xfrm>
          <a:prstGeom prst="rect">
            <a:avLst/>
          </a:prstGeom>
          <a:noFill/>
        </p:spPr>
        <p:txBody>
          <a:bodyPr wrap="square">
            <a:spAutoFit/>
          </a:bodyPr>
          <a:lstStyle/>
          <a:p>
            <a:pPr>
              <a:spcAft>
                <a:spcPts val="0"/>
              </a:spcAft>
            </a:pPr>
            <a:r>
              <a:rPr sz="3400" b="1">
                <a:solidFill>
                  <a:srgbClr val="9CC0B4"/>
                </a:solidFill>
                <a:latin typeface="Segoe UI"/>
              </a:rPr>
              <a:t>3</a:t>
            </a:r>
          </a:p>
        </p:txBody>
      </p:sp>
      <p:sp>
        <p:nvSpPr>
          <p:cNvPr id="9" name="TextBox 8"/>
          <p:cNvSpPr txBox="1"/>
          <p:nvPr/>
        </p:nvSpPr>
        <p:spPr>
          <a:xfrm>
            <a:off x="1234440" y="4032504"/>
            <a:ext cx="10362895" cy="1005840"/>
          </a:xfrm>
          <a:prstGeom prst="rect">
            <a:avLst/>
          </a:prstGeom>
          <a:noFill/>
        </p:spPr>
        <p:txBody>
          <a:bodyPr wrap="square">
            <a:spAutoFit/>
          </a:bodyPr>
          <a:lstStyle/>
          <a:p>
            <a:pPr>
              <a:spcAft>
                <a:spcPts val="100"/>
              </a:spcAft>
            </a:pPr>
            <a:r>
              <a:rPr sz="2000" b="1">
                <a:solidFill>
                  <a:srgbClr val="1F2733"/>
                </a:solidFill>
                <a:latin typeface="Segoe UI"/>
              </a:rPr>
              <a:t>Use the agent the user already signed into</a:t>
            </a:r>
          </a:p>
          <a:p>
            <a:pPr>
              <a:spcAft>
                <a:spcPts val="0"/>
              </a:spcAft>
            </a:pPr>
            <a:r>
              <a:rPr sz="1400" b="0">
                <a:solidFill>
                  <a:srgbClr val="5B6B7C"/>
                </a:solidFill>
                <a:latin typeface="Segoe UI"/>
              </a:rPr>
              <a:t>Zero credential setup, no key stored</a:t>
            </a:r>
          </a:p>
        </p:txBody>
      </p:sp>
      <p:sp>
        <p:nvSpPr>
          <p:cNvPr id="10" name="TextBox 9"/>
          <p:cNvSpPr txBox="1"/>
          <p:nvPr/>
        </p:nvSpPr>
        <p:spPr>
          <a:xfrm>
            <a:off x="594360" y="5093208"/>
            <a:ext cx="640080" cy="731520"/>
          </a:xfrm>
          <a:prstGeom prst="rect">
            <a:avLst/>
          </a:prstGeom>
          <a:noFill/>
        </p:spPr>
        <p:txBody>
          <a:bodyPr wrap="square">
            <a:spAutoFit/>
          </a:bodyPr>
          <a:lstStyle/>
          <a:p>
            <a:pPr>
              <a:spcAft>
                <a:spcPts val="0"/>
              </a:spcAft>
            </a:pPr>
            <a:r>
              <a:rPr sz="3400" b="1">
                <a:solidFill>
                  <a:srgbClr val="9CC0B4"/>
                </a:solidFill>
                <a:latin typeface="Segoe UI"/>
              </a:rPr>
              <a:t>4</a:t>
            </a:r>
          </a:p>
        </p:txBody>
      </p:sp>
      <p:sp>
        <p:nvSpPr>
          <p:cNvPr id="11" name="TextBox 10"/>
          <p:cNvSpPr txBox="1"/>
          <p:nvPr/>
        </p:nvSpPr>
        <p:spPr>
          <a:xfrm>
            <a:off x="1234440" y="5202936"/>
            <a:ext cx="10362895" cy="1005840"/>
          </a:xfrm>
          <a:prstGeom prst="rect">
            <a:avLst/>
          </a:prstGeom>
          <a:noFill/>
        </p:spPr>
        <p:txBody>
          <a:bodyPr wrap="square">
            <a:spAutoFit/>
          </a:bodyPr>
          <a:lstStyle/>
          <a:p>
            <a:pPr>
              <a:spcAft>
                <a:spcPts val="100"/>
              </a:spcAft>
            </a:pPr>
            <a:r>
              <a:rPr sz="2000" b="1">
                <a:solidFill>
                  <a:srgbClr val="1F2733"/>
                </a:solidFill>
                <a:latin typeface="Segoe UI"/>
              </a:rPr>
              <a:t>State missing data, never fill the gap</a:t>
            </a:r>
          </a:p>
          <a:p>
            <a:pPr>
              <a:spcAft>
                <a:spcPts val="0"/>
              </a:spcAft>
            </a:pPr>
            <a:r>
              <a:rPr sz="1400" b="0">
                <a:solidFill>
                  <a:srgbClr val="5B6B7C"/>
                </a:solidFill>
                <a:latin typeface="Segoe UI"/>
              </a:rPr>
              <a:t>“Confirm with the agency”, not a blog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WORKING PROTOTYPE</a:t>
            </a:r>
          </a:p>
          <a:p>
            <a:pPr>
              <a:spcAft>
                <a:spcPts val="0"/>
              </a:spcAft>
            </a:pPr>
            <a:r>
              <a:rPr sz="3000" b="1">
                <a:solidFill>
                  <a:srgbClr val="1F2733"/>
                </a:solidFill>
                <a:latin typeface="Segoe UI"/>
              </a:rPr>
              <a:t>Live demo</a:t>
            </a:r>
          </a:p>
        </p:txBody>
      </p:sp>
      <p:sp>
        <p:nvSpPr>
          <p:cNvPr id="4" name="TextBox 3"/>
          <p:cNvSpPr txBox="1"/>
          <p:nvPr/>
        </p:nvSpPr>
        <p:spPr>
          <a:xfrm>
            <a:off x="594360" y="1463040"/>
            <a:ext cx="5486400" cy="1280160"/>
          </a:xfrm>
          <a:prstGeom prst="rect">
            <a:avLst/>
          </a:prstGeom>
          <a:noFill/>
        </p:spPr>
        <p:txBody>
          <a:bodyPr wrap="square">
            <a:spAutoFit/>
          </a:bodyPr>
          <a:lstStyle/>
          <a:p>
            <a:pPr>
              <a:spcAft>
                <a:spcPts val="800"/>
              </a:spcAft>
            </a:pPr>
            <a:r>
              <a:rPr sz="1700" b="1">
                <a:solidFill>
                  <a:srgbClr val="1F2733"/>
                </a:solidFill>
                <a:latin typeface="Segoe UI"/>
              </a:rPr>
              <a:t>Same property, before and after research</a:t>
            </a:r>
          </a:p>
        </p:txBody>
      </p:sp>
      <p:sp>
        <p:nvSpPr>
          <p:cNvPr id="5" name="Rounded Rectangle 4"/>
          <p:cNvSpPr/>
          <p:nvPr/>
        </p:nvSpPr>
        <p:spPr>
          <a:xfrm>
            <a:off x="594360" y="2148840"/>
            <a:ext cx="2651760" cy="1783080"/>
          </a:xfrm>
          <a:prstGeom prst="roundRect">
            <a:avLst/>
          </a:prstGeom>
          <a:solidFill>
            <a:srgbClr val="FFFFFF"/>
          </a:solidFill>
          <a:ln>
            <a:solidFill>
              <a:srgbClr val="5B6B7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spcAft>
                <a:spcPts val="500"/>
              </a:spcAft>
            </a:pPr>
            <a:r>
              <a:rPr sz="1300" b="1">
                <a:solidFill>
                  <a:srgbClr val="5B6B7C"/>
                </a:solidFill>
                <a:latin typeface="Segoe UI"/>
              </a:rPr>
              <a:t>BEFORE</a:t>
            </a:r>
          </a:p>
          <a:p>
            <a:pPr algn="l">
              <a:spcAft>
                <a:spcPts val="300"/>
              </a:spcAft>
            </a:pPr>
            <a:r>
              <a:rPr sz="1300" b="0">
                <a:solidFill>
                  <a:srgbClr val="1F2733"/>
                </a:solidFill>
                <a:latin typeface="Segoe UI"/>
              </a:rPr>
              <a:t>STR income: assumed viable</a:t>
            </a:r>
          </a:p>
          <a:p>
            <a:pPr algn="l">
              <a:spcAft>
                <a:spcPts val="300"/>
              </a:spcAft>
            </a:pPr>
            <a:r>
              <a:rPr sz="1300" b="0">
                <a:solidFill>
                  <a:srgbClr val="1F2733"/>
                </a:solidFill>
                <a:latin typeface="Segoe UI"/>
              </a:rPr>
              <a:t>Policy risk:  medium</a:t>
            </a:r>
          </a:p>
          <a:p>
            <a:pPr algn="l">
              <a:spcAft>
                <a:spcPts val="300"/>
              </a:spcAft>
            </a:pPr>
            <a:r>
              <a:rPr sz="1300" b="0">
                <a:solidFill>
                  <a:srgbClr val="1F2733"/>
                </a:solidFill>
                <a:latin typeface="Segoe UI"/>
              </a:rPr>
              <a:t>2 high-attention risks</a:t>
            </a:r>
          </a:p>
        </p:txBody>
      </p:sp>
      <p:sp>
        <p:nvSpPr>
          <p:cNvPr id="6" name="Rounded Rectangle 5"/>
          <p:cNvSpPr/>
          <p:nvPr/>
        </p:nvSpPr>
        <p:spPr>
          <a:xfrm>
            <a:off x="3474720" y="2148840"/>
            <a:ext cx="2651760" cy="1783080"/>
          </a:xfrm>
          <a:prstGeom prst="roundRect">
            <a:avLst/>
          </a:prstGeom>
          <a:solidFill>
            <a:srgbClr val="FFFFFF"/>
          </a:solidFill>
          <a:ln>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spcAft>
                <a:spcPts val="500"/>
              </a:spcAft>
            </a:pPr>
            <a:r>
              <a:rPr sz="1300" b="1">
                <a:solidFill>
                  <a:srgbClr val="B3261E"/>
                </a:solidFill>
                <a:latin typeface="Segoe UI"/>
              </a:rPr>
              <a:t>AFTER</a:t>
            </a:r>
          </a:p>
          <a:p>
            <a:pPr algn="l">
              <a:spcAft>
                <a:spcPts val="300"/>
              </a:spcAft>
            </a:pPr>
            <a:r>
              <a:rPr sz="1300" b="0">
                <a:solidFill>
                  <a:srgbClr val="1F2733"/>
                </a:solidFill>
                <a:latin typeface="Segoe UI"/>
              </a:rPr>
              <a:t>STR income: unavailable</a:t>
            </a:r>
          </a:p>
          <a:p>
            <a:pPr algn="l">
              <a:spcAft>
                <a:spcPts val="300"/>
              </a:spcAft>
            </a:pPr>
            <a:r>
              <a:rPr sz="1300" b="0">
                <a:solidFill>
                  <a:srgbClr val="1F2733"/>
                </a:solidFill>
                <a:latin typeface="Segoe UI"/>
              </a:rPr>
              <a:t>Policy risk:  HIGH</a:t>
            </a:r>
          </a:p>
          <a:p>
            <a:pPr algn="l">
              <a:spcAft>
                <a:spcPts val="300"/>
              </a:spcAft>
            </a:pPr>
            <a:r>
              <a:rPr sz="1300" b="0">
                <a:solidFill>
                  <a:srgbClr val="1F2733"/>
                </a:solidFill>
                <a:latin typeface="Segoe UI"/>
              </a:rPr>
              <a:t>5 high-attention risks</a:t>
            </a:r>
          </a:p>
        </p:txBody>
      </p:sp>
      <p:sp>
        <p:nvSpPr>
          <p:cNvPr id="7" name="TextBox 6"/>
          <p:cNvSpPr txBox="1"/>
          <p:nvPr/>
        </p:nvSpPr>
        <p:spPr>
          <a:xfrm>
            <a:off x="594360" y="4160520"/>
            <a:ext cx="5486400" cy="2194560"/>
          </a:xfrm>
          <a:prstGeom prst="rect">
            <a:avLst/>
          </a:prstGeom>
          <a:noFill/>
        </p:spPr>
        <p:txBody>
          <a:bodyPr wrap="square">
            <a:spAutoFit/>
          </a:bodyPr>
          <a:lstStyle/>
          <a:p>
            <a:pPr>
              <a:spcAft>
                <a:spcPts val="500"/>
              </a:spcAft>
            </a:pPr>
            <a:r>
              <a:rPr sz="1500" b="1">
                <a:solidFill>
                  <a:srgbClr val="1D5C4D"/>
                </a:solidFill>
                <a:latin typeface="Segoe UI"/>
              </a:rPr>
              <a:t>Demo path</a:t>
            </a:r>
          </a:p>
          <a:p>
            <a:pPr>
              <a:spcAft>
                <a:spcPts val="500"/>
              </a:spcAft>
            </a:pPr>
            <a:r>
              <a:rPr sz="1400" b="0">
                <a:solidFill>
                  <a:srgbClr val="5B6B7C"/>
                </a:solidFill>
                <a:latin typeface="Segoe UI"/>
              </a:rPr>
              <a:t>Analyze  →  report is instant and complete</a:t>
            </a:r>
          </a:p>
          <a:p>
            <a:pPr>
              <a:spcAft>
                <a:spcPts val="500"/>
              </a:spcAft>
            </a:pPr>
            <a:r>
              <a:rPr sz="1400" b="0">
                <a:solidFill>
                  <a:srgbClr val="5B6B7C"/>
                </a:solidFill>
                <a:latin typeface="Segoe UI"/>
              </a:rPr>
              <a:t>New ZIP  →  research starts itself, unprompted</a:t>
            </a:r>
          </a:p>
          <a:p>
            <a:pPr>
              <a:spcAft>
                <a:spcPts val="500"/>
              </a:spcAft>
            </a:pPr>
            <a:r>
              <a:rPr sz="1400" b="0">
                <a:solidFill>
                  <a:srgbClr val="5B6B7C"/>
                </a:solidFill>
                <a:latin typeface="Segoe UI"/>
              </a:rPr>
              <a:t>Saved note  →  every fact sourced, dated, tagged</a:t>
            </a:r>
          </a:p>
          <a:p>
            <a:pPr>
              <a:spcAft>
                <a:spcPts val="500"/>
              </a:spcAft>
            </a:pPr>
            <a:r>
              <a:rPr sz="1400" b="0">
                <a:solidFill>
                  <a:srgbClr val="5B6B7C"/>
                </a:solidFill>
                <a:latin typeface="Segoe UI"/>
              </a:rPr>
              <a:t>One click  →  printable Policy Brief for a client</a:t>
            </a:r>
          </a:p>
        </p:txBody>
      </p:sp>
      <p:pic>
        <p:nvPicPr>
          <p:cNvPr id="8" name="Picture 7" descr="04-policy-brief.png"/>
          <p:cNvPicPr>
            <a:picLocks noChangeAspect="1"/>
          </p:cNvPicPr>
          <p:nvPr/>
        </p:nvPicPr>
        <p:blipFill>
          <a:blip r:embed="rId2"/>
          <a:stretch>
            <a:fillRect/>
          </a:stretch>
        </p:blipFill>
        <p:spPr>
          <a:xfrm>
            <a:off x="6537960" y="1371600"/>
            <a:ext cx="5074920" cy="4277433"/>
          </a:xfrm>
          <a:prstGeom prst="rect">
            <a:avLst/>
          </a:prstGeom>
          <a:ln w="9525">
            <a:solidFill>
              <a:srgbClr val="D9E0E7"/>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QUALITY &amp; SECURITY</a:t>
            </a:r>
          </a:p>
          <a:p>
            <a:pPr>
              <a:spcAft>
                <a:spcPts val="0"/>
              </a:spcAft>
            </a:pPr>
            <a:r>
              <a:rPr sz="3000" b="1">
                <a:solidFill>
                  <a:srgbClr val="1F2733"/>
                </a:solidFill>
                <a:latin typeface="Segoe UI"/>
              </a:rPr>
              <a:t>Tested and hardened, not just working</a:t>
            </a:r>
          </a:p>
        </p:txBody>
      </p:sp>
      <p:sp>
        <p:nvSpPr>
          <p:cNvPr id="4" name="Rounded Rectangle 3"/>
          <p:cNvSpPr/>
          <p:nvPr/>
        </p:nvSpPr>
        <p:spPr>
          <a:xfrm>
            <a:off x="594360"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138</a:t>
            </a:r>
          </a:p>
          <a:p>
            <a:pPr algn="ctr">
              <a:spcAft>
                <a:spcPts val="0"/>
              </a:spcAft>
            </a:pPr>
            <a:r>
              <a:rPr sz="1100" b="0">
                <a:solidFill>
                  <a:srgbClr val="5B6B7C"/>
                </a:solidFill>
                <a:latin typeface="Segoe UI"/>
              </a:rPr>
              <a:t>automated tests</a:t>
            </a:r>
          </a:p>
        </p:txBody>
      </p:sp>
      <p:sp>
        <p:nvSpPr>
          <p:cNvPr id="5" name="Rounded Rectangle 4"/>
          <p:cNvSpPr/>
          <p:nvPr/>
        </p:nvSpPr>
        <p:spPr>
          <a:xfrm>
            <a:off x="3456432"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41,488</a:t>
            </a:r>
          </a:p>
          <a:p>
            <a:pPr algn="ctr">
              <a:spcAft>
                <a:spcPts val="0"/>
              </a:spcAft>
            </a:pPr>
            <a:r>
              <a:rPr sz="1100" b="0">
                <a:solidFill>
                  <a:srgbClr val="5B6B7C"/>
                </a:solidFill>
                <a:latin typeface="Segoe UI"/>
              </a:rPr>
              <a:t>US ZIPs bundled</a:t>
            </a:r>
            <a:br/>
            <a:r>
              <a:rPr sz="1100" b="0">
                <a:solidFill>
                  <a:srgbClr val="5B6B7C"/>
                </a:solidFill>
                <a:latin typeface="Segoe UI"/>
              </a:rPr>
              <a:t>for offline checks</a:t>
            </a:r>
          </a:p>
        </p:txBody>
      </p:sp>
      <p:sp>
        <p:nvSpPr>
          <p:cNvPr id="6" name="Rounded Rectangle 5"/>
          <p:cNvSpPr/>
          <p:nvPr/>
        </p:nvSpPr>
        <p:spPr>
          <a:xfrm>
            <a:off x="6318504"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10</a:t>
            </a:r>
          </a:p>
          <a:p>
            <a:pPr algn="ctr">
              <a:spcAft>
                <a:spcPts val="0"/>
              </a:spcAft>
            </a:pPr>
            <a:r>
              <a:rPr sz="1100" b="0">
                <a:solidFill>
                  <a:srgbClr val="5B6B7C"/>
                </a:solidFill>
                <a:latin typeface="Segoe UI"/>
              </a:rPr>
              <a:t>cited policy notes</a:t>
            </a:r>
          </a:p>
        </p:txBody>
      </p:sp>
      <p:sp>
        <p:nvSpPr>
          <p:cNvPr id="7" name="Rounded Rectangle 6"/>
          <p:cNvSpPr/>
          <p:nvPr/>
        </p:nvSpPr>
        <p:spPr>
          <a:xfrm>
            <a:off x="9180576"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0</a:t>
            </a:r>
          </a:p>
          <a:p>
            <a:pPr algn="ctr">
              <a:spcAft>
                <a:spcPts val="0"/>
              </a:spcAft>
            </a:pPr>
            <a:r>
              <a:rPr sz="1100" b="0">
                <a:solidFill>
                  <a:srgbClr val="5B6B7C"/>
                </a:solidFill>
                <a:latin typeface="Segoe UI"/>
              </a:rPr>
              <a:t>secrets in the repo</a:t>
            </a:r>
          </a:p>
        </p:txBody>
      </p:sp>
      <p:sp>
        <p:nvSpPr>
          <p:cNvPr id="8" name="TextBox 7"/>
          <p:cNvSpPr txBox="1"/>
          <p:nvPr/>
        </p:nvSpPr>
        <p:spPr>
          <a:xfrm>
            <a:off x="594360" y="2971800"/>
            <a:ext cx="5394960" cy="3108960"/>
          </a:xfrm>
          <a:prstGeom prst="rect">
            <a:avLst/>
          </a:prstGeom>
          <a:noFill/>
        </p:spPr>
        <p:txBody>
          <a:bodyPr wrap="square">
            <a:spAutoFit/>
          </a:bodyPr>
          <a:lstStyle/>
          <a:p>
            <a:pPr>
              <a:spcAft>
                <a:spcPts val="800"/>
              </a:spcAft>
            </a:pPr>
            <a:r>
              <a:rPr sz="1600" b="1">
                <a:solidFill>
                  <a:srgbClr val="1D5C4D"/>
                </a:solidFill>
                <a:latin typeface="Segoe UI"/>
              </a:rPr>
              <a:t>How we tested</a:t>
            </a:r>
          </a:p>
          <a:p>
            <a:pPr>
              <a:spcAft>
                <a:spcPts val="900"/>
              </a:spcAft>
            </a:pPr>
            <a:r>
              <a:rPr sz="1350" b="0">
                <a:solidFill>
                  <a:srgbClr val="1F2733"/>
                </a:solidFill>
                <a:latin typeface="Segoe UI"/>
              </a:rPr>
              <a:t>Financial model unit-tested against hand-computed values.</a:t>
            </a:r>
          </a:p>
          <a:p>
            <a:pPr>
              <a:spcAft>
                <a:spcPts val="900"/>
              </a:spcAft>
            </a:pPr>
            <a:r>
              <a:rPr sz="1350" b="0">
                <a:solidFill>
                  <a:srgbClr val="1F2733"/>
                </a:solidFill>
                <a:latin typeface="Segoe UI"/>
              </a:rPr>
              <a:t>Two near-opposite jurisdictions used as the research test: Austin and Los Angeles.</a:t>
            </a:r>
          </a:p>
          <a:p>
            <a:pPr>
              <a:spcAft>
                <a:spcPts val="900"/>
              </a:spcAft>
            </a:pPr>
            <a:r>
              <a:rPr sz="1350" b="0">
                <a:solidFill>
                  <a:srgbClr val="1F2733"/>
                </a:solidFill>
                <a:latin typeface="Segoe UI"/>
              </a:rPr>
              <a:t>Tests force research off, so running the suite can never spend real money.</a:t>
            </a:r>
          </a:p>
          <a:p>
            <a:pPr>
              <a:spcAft>
                <a:spcPts val="900"/>
              </a:spcAft>
            </a:pPr>
            <a:r>
              <a:rPr sz="1350" b="0">
                <a:solidFill>
                  <a:srgbClr val="1F2733"/>
                </a:solidFill>
                <a:latin typeface="Segoe UI"/>
              </a:rPr>
              <a:t>Bugs the tests caught: a lock deadlock that hung the server, and a stale note that blocked its own refresh.</a:t>
            </a:r>
          </a:p>
        </p:txBody>
      </p:sp>
      <p:sp>
        <p:nvSpPr>
          <p:cNvPr id="9" name="TextBox 8"/>
          <p:cNvSpPr txBox="1"/>
          <p:nvPr/>
        </p:nvSpPr>
        <p:spPr>
          <a:xfrm>
            <a:off x="6355080" y="2971800"/>
            <a:ext cx="5257800" cy="3108960"/>
          </a:xfrm>
          <a:prstGeom prst="rect">
            <a:avLst/>
          </a:prstGeom>
          <a:noFill/>
        </p:spPr>
        <p:txBody>
          <a:bodyPr wrap="square">
            <a:spAutoFit/>
          </a:bodyPr>
          <a:lstStyle/>
          <a:p>
            <a:pPr>
              <a:spcAft>
                <a:spcPts val="800"/>
              </a:spcAft>
            </a:pPr>
            <a:r>
              <a:rPr sz="1600" b="1">
                <a:solidFill>
                  <a:srgbClr val="1D5C4D"/>
                </a:solidFill>
                <a:latin typeface="Segoe UI"/>
              </a:rPr>
              <a:t>Security decisions</a:t>
            </a:r>
          </a:p>
          <a:p>
            <a:pPr>
              <a:spcAft>
                <a:spcPts val="900"/>
              </a:spcAft>
            </a:pPr>
            <a:r>
              <a:rPr sz="1350" b="0">
                <a:solidFill>
                  <a:srgbClr val="1F2733"/>
                </a:solidFill>
                <a:latin typeface="Segoe UI"/>
              </a:rPr>
              <a:t>Path traversal blocked - notes cannot escape the knowledge bank.</a:t>
            </a:r>
          </a:p>
          <a:p>
            <a:pPr>
              <a:spcAft>
                <a:spcPts val="900"/>
              </a:spcAft>
            </a:pPr>
            <a:r>
              <a:rPr sz="1350" b="0">
                <a:solidFill>
                  <a:srgbClr val="1F2733"/>
                </a:solidFill>
                <a:latin typeface="Segoe UI"/>
              </a:rPr>
              <a:t>Note text is escaped before rendering, so a document cannot inject markup into a brief a client opens.</a:t>
            </a:r>
          </a:p>
          <a:p>
            <a:pPr>
              <a:spcAft>
                <a:spcPts val="900"/>
              </a:spcAft>
            </a:pPr>
            <a:r>
              <a:rPr sz="1350" b="0">
                <a:solidFill>
                  <a:srgbClr val="1F2733"/>
                </a:solidFill>
                <a:latin typeface="Segoe UI"/>
              </a:rPr>
              <a:t>The research agent runs read-only; the app decides what reaches disk, so a reply that is not a policy note is never saved.</a:t>
            </a:r>
          </a:p>
          <a:p>
            <a:pPr>
              <a:spcAft>
                <a:spcPts val="900"/>
              </a:spcAft>
            </a:pPr>
            <a:r>
              <a:rPr sz="1350" b="0">
                <a:solidFill>
                  <a:srgbClr val="1F2733"/>
                </a:solidFill>
                <a:latin typeface="Segoe UI"/>
              </a:rPr>
              <a:t>Secrets live in a git-ignored .env; the app runs fully offline without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REFLECTIONS</a:t>
            </a:r>
          </a:p>
          <a:p>
            <a:pPr>
              <a:spcAft>
                <a:spcPts val="0"/>
              </a:spcAft>
            </a:pPr>
            <a:r>
              <a:rPr sz="3000" b="1">
                <a:solidFill>
                  <a:srgbClr val="1F2733"/>
                </a:solidFill>
                <a:latin typeface="Segoe UI"/>
              </a:rPr>
              <a:t>What we learned</a:t>
            </a:r>
          </a:p>
        </p:txBody>
      </p:sp>
      <p:sp>
        <p:nvSpPr>
          <p:cNvPr id="4" name="TextBox 3"/>
          <p:cNvSpPr txBox="1"/>
          <p:nvPr/>
        </p:nvSpPr>
        <p:spPr>
          <a:xfrm>
            <a:off x="594360" y="1481328"/>
            <a:ext cx="3520440" cy="4572000"/>
          </a:xfrm>
          <a:prstGeom prst="rect">
            <a:avLst/>
          </a:prstGeom>
          <a:noFill/>
        </p:spPr>
        <p:txBody>
          <a:bodyPr wrap="square">
            <a:spAutoFit/>
          </a:bodyPr>
          <a:lstStyle/>
          <a:p>
            <a:pPr>
              <a:spcAft>
                <a:spcPts val="800"/>
              </a:spcAft>
            </a:pPr>
            <a:r>
              <a:rPr sz="1600" b="1">
                <a:solidFill>
                  <a:srgbClr val="1D5C4D"/>
                </a:solidFill>
                <a:latin typeface="Segoe UI"/>
              </a:rPr>
              <a:t>Worked</a:t>
            </a:r>
          </a:p>
          <a:p>
            <a:pPr>
              <a:spcAft>
                <a:spcPts val="900"/>
              </a:spcAft>
            </a:pPr>
            <a:r>
              <a:rPr sz="1350" b="0">
                <a:solidFill>
                  <a:srgbClr val="1F2733"/>
                </a:solidFill>
                <a:latin typeface="Segoe UI"/>
              </a:rPr>
              <a:t>Writing standards instead of steps. The Skill says what good research looks like; the agent works out how.</a:t>
            </a:r>
          </a:p>
          <a:p>
            <a:pPr>
              <a:spcAft>
                <a:spcPts val="900"/>
              </a:spcAft>
            </a:pPr>
            <a:r>
              <a:rPr sz="1350" b="0">
                <a:solidFill>
                  <a:srgbClr val="1F2733"/>
                </a:solidFill>
                <a:latin typeface="Segoe UI"/>
              </a:rPr>
              <a:t>Making provenance a code boundary rather than a naming convention.</a:t>
            </a:r>
          </a:p>
          <a:p>
            <a:pPr>
              <a:spcAft>
                <a:spcPts val="900"/>
              </a:spcAft>
            </a:pPr>
            <a:r>
              <a:rPr sz="1350" b="0">
                <a:solidFill>
                  <a:srgbClr val="1F2733"/>
                </a:solidFill>
                <a:latin typeface="Segoe UI"/>
              </a:rPr>
              <a:t>Keeping the AI out of the numbers.</a:t>
            </a:r>
          </a:p>
        </p:txBody>
      </p:sp>
      <p:sp>
        <p:nvSpPr>
          <p:cNvPr id="5" name="TextBox 4"/>
          <p:cNvSpPr txBox="1"/>
          <p:nvPr/>
        </p:nvSpPr>
        <p:spPr>
          <a:xfrm>
            <a:off x="4343400" y="1481328"/>
            <a:ext cx="3520440" cy="4572000"/>
          </a:xfrm>
          <a:prstGeom prst="rect">
            <a:avLst/>
          </a:prstGeom>
          <a:noFill/>
        </p:spPr>
        <p:txBody>
          <a:bodyPr wrap="square">
            <a:spAutoFit/>
          </a:bodyPr>
          <a:lstStyle/>
          <a:p>
            <a:pPr>
              <a:spcAft>
                <a:spcPts val="800"/>
              </a:spcAft>
            </a:pPr>
            <a:r>
              <a:rPr sz="1600" b="1">
                <a:solidFill>
                  <a:srgbClr val="B3261E"/>
                </a:solidFill>
                <a:latin typeface="Segoe UI"/>
              </a:rPr>
              <a:t>Did not</a:t>
            </a:r>
          </a:p>
          <a:p>
            <a:pPr>
              <a:spcAft>
                <a:spcPts val="900"/>
              </a:spcAft>
            </a:pPr>
            <a:r>
              <a:rPr sz="1350" b="0">
                <a:solidFill>
                  <a:srgbClr val="1F2733"/>
                </a:solidFill>
                <a:latin typeface="Segoe UI"/>
              </a:rPr>
              <a:t>First research design needed an API key per user. Wrong shape - the Skill already ran inside tools people had.</a:t>
            </a:r>
          </a:p>
          <a:p>
            <a:pPr>
              <a:spcAft>
                <a:spcPts val="900"/>
              </a:spcAft>
            </a:pPr>
            <a:r>
              <a:rPr sz="1350" b="0">
                <a:solidFill>
                  <a:srgbClr val="1F2733"/>
                </a:solidFill>
                <a:latin typeface="Segoe UI"/>
              </a:rPr>
              <a:t>A stale server made fixed code look broken for an hour.</a:t>
            </a:r>
          </a:p>
          <a:p>
            <a:pPr>
              <a:spcAft>
                <a:spcPts val="900"/>
              </a:spcAft>
            </a:pPr>
            <a:r>
              <a:rPr sz="1350" b="0">
                <a:solidFill>
                  <a:srgbClr val="1F2733"/>
                </a:solidFill>
                <a:latin typeface="Segoe UI"/>
              </a:rPr>
              <a:t>Documents users supply are often scans; the parser silently ignored them until we surfaced it.</a:t>
            </a:r>
          </a:p>
        </p:txBody>
      </p:sp>
      <p:sp>
        <p:nvSpPr>
          <p:cNvPr id="6" name="TextBox 5"/>
          <p:cNvSpPr txBox="1"/>
          <p:nvPr/>
        </p:nvSpPr>
        <p:spPr>
          <a:xfrm>
            <a:off x="8092440" y="1481328"/>
            <a:ext cx="3520440" cy="4572000"/>
          </a:xfrm>
          <a:prstGeom prst="rect">
            <a:avLst/>
          </a:prstGeom>
          <a:noFill/>
        </p:spPr>
        <p:txBody>
          <a:bodyPr wrap="square">
            <a:spAutoFit/>
          </a:bodyPr>
          <a:lstStyle/>
          <a:p>
            <a:pPr>
              <a:spcAft>
                <a:spcPts val="800"/>
              </a:spcAft>
            </a:pPr>
            <a:r>
              <a:rPr sz="1600" b="1">
                <a:solidFill>
                  <a:srgbClr val="5B6B7C"/>
                </a:solidFill>
                <a:latin typeface="Segoe UI"/>
              </a:rPr>
              <a:t>Next</a:t>
            </a:r>
          </a:p>
          <a:p>
            <a:pPr>
              <a:spcAft>
                <a:spcPts val="900"/>
              </a:spcAft>
            </a:pPr>
            <a:r>
              <a:rPr sz="1350" b="0">
                <a:solidFill>
                  <a:srgbClr val="1F2733"/>
                </a:solidFill>
                <a:latin typeface="Segoe UI"/>
              </a:rPr>
              <a:t>Rent and comps from a property-data API — today's market figures are a state-level sample, and the report says so.</a:t>
            </a:r>
          </a:p>
          <a:p>
            <a:pPr>
              <a:spcAft>
                <a:spcPts val="900"/>
              </a:spcAft>
            </a:pPr>
            <a:r>
              <a:rPr sz="1350" b="0">
                <a:solidFill>
                  <a:srgbClr val="1F2733"/>
                </a:solidFill>
                <a:latin typeface="Segoe UI"/>
              </a:rPr>
              <a:t>OCR so scanned HOA declarations parse themselves.</a:t>
            </a:r>
          </a:p>
          <a:p>
            <a:pPr>
              <a:spcAft>
                <a:spcPts val="900"/>
              </a:spcAft>
            </a:pPr>
            <a:r>
              <a:rPr sz="1350" b="0">
                <a:solidFill>
                  <a:srgbClr val="1F2733"/>
                </a:solidFill>
                <a:latin typeface="Segoe UI"/>
              </a:rPr>
              <a:t>Scheduled re-research so notes refresh before they age out.</a:t>
            </a:r>
          </a:p>
        </p:txBody>
      </p:sp>
      <p:sp>
        <p:nvSpPr>
          <p:cNvPr id="7" name="Rectangle 6"/>
          <p:cNvSpPr/>
          <p:nvPr/>
        </p:nvSpPr>
        <p:spPr>
          <a:xfrm>
            <a:off x="0" y="5989320"/>
            <a:ext cx="12191695" cy="868680"/>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144768"/>
            <a:ext cx="11002975" cy="548640"/>
          </a:xfrm>
          <a:prstGeom prst="rect">
            <a:avLst/>
          </a:prstGeom>
          <a:noFill/>
        </p:spPr>
        <p:txBody>
          <a:bodyPr wrap="square">
            <a:spAutoFit/>
          </a:bodyPr>
          <a:lstStyle/>
          <a:p>
            <a:pPr algn="ctr">
              <a:spcAft>
                <a:spcPts val="0"/>
              </a:spcAft>
            </a:pPr>
            <a:r>
              <a:rPr sz="1300" b="1">
                <a:solidFill>
                  <a:srgbClr val="FFFFFF"/>
                </a:solidFill>
                <a:latin typeface="Segoe UI"/>
              </a:rPr>
              <a:t>github.com/AsisNath/Real-Estate-Investment-Decision-Support   ·   Team 5 · Ashish Nath · Justin Kretschman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