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[0:00-0:20] Two-sentence hook.</a:t>
            </a:r>
          </a:p>
          <a:p>
            <a:r>
              <a:t>NorthStar answers one question for a small real-estate investor: should I buy this property? The numbers are deterministic Python. The local rules come from AI research that runs itself and cites every source.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[0:20-1:20] Lead with the proof, not the premise.</a:t>
            </a:r>
          </a:p>
          <a:p>
            <a:r>
              <a:t>Maryland Heights lets an investor run an STR if the owner OR a manager is within an hour. Ballwin, two ZIPs away, requires the owner to live there 180 days a year - so a pure investment property cannot do it at all. Same county, same state law, opposite answers. If you underwrite Ballwin using Maryland Heights' rule, your entire revenue model is fiction. That is the gap we built for.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[1:20-2:05] The one-sentence architecture.</a:t>
            </a:r>
          </a:p>
          <a:p>
            <a:r>
              <a:t>Two layers that never mix. The financial model is ordinary Python - we deliberately kept the LLM out of the arithmetic, because a hallucinated IRR is worse than no IRR. The AI does the part it is actually good at: reading the web and citing sources. They meet only at the decision layer.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[2:05-2:50] Pick two to say out loud; the slide carries the rest.</a:t>
            </a:r>
          </a:p>
          <a:p>
            <a:r>
              <a:t>Decision 3 is the one we are proudest of. Our first build made the app call an API directly, which meant every user needed their own key. We realised the Skill is just instructions - so we run it inside a CLI the user is already logged into. Setup went from 'get an API key' to nothing at all.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[2:50-4:15] Longest block. Pre-load the app; do not set up on stage.</a:t>
            </a:r>
          </a:p>
          <a:p>
            <a:r>
              <a:t>Have the recorded backup ready. If time runs short, cut steps 2 and 6 and keep the research-runs-itself moment and the recommendation changing - that is the story.</a:t>
            </a:r>
          </a:p>
          <a:p>
            <a:r>
              <a:t>The Wildwood note is a genuine find, worth 15 seconds: proof the automation works when nobody is watching.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[4:15-4:40] Do not read the cards; point at them.</a:t>
            </a:r>
          </a:p>
          <a:p>
            <a:r>
              <a:t>Threat model: this is a local app, so the realistic risk is not a remote attacker - it is untrusted text. Policy notes come from the open web and from PDFs a user drops in, and those get rendered into a document handed to a client. So we escape everything and validate before saving.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[4:40-5:00] Close on the lesson, not a summary.</a:t>
            </a:r>
          </a:p>
          <a:p>
            <a:r>
              <a:t>The biggest shift: we spent our time writing standards - what counts as a verified fact, when to say 'unverified' - rather than wiring steps together. The agent handled the how, including recovering when a government site blocked it. That is a different job from programming a pipeline.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D5C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874519"/>
            <a:ext cx="10362895" cy="3108960"/>
          </a:xfrm>
          <a:prstGeom prst="rect">
            <a:avLst/>
          </a:prstGeom>
          <a:noFill/>
        </p:spPr>
        <p:txBody>
          <a:bodyPr wrap="square">
            <a:spAutoFit/>
          </a:bodyPr>
          <a:lstStyle/>
          <a:p>
            <a:pPr>
              <a:spcAft>
                <a:spcPts val="1400"/>
              </a:spcAft>
            </a:pPr>
            <a:r>
              <a:rPr sz="1300" b="1">
                <a:solidFill>
                  <a:srgbClr val="EAF3F0"/>
                </a:solidFill>
                <a:latin typeface="Segoe UI"/>
              </a:rPr>
              <a:t>BUKD-X500 · AGENTIC AI SYSTEMS · DESIGN STUDIO</a:t>
            </a:r>
          </a:p>
          <a:p>
            <a:pPr>
              <a:spcAft>
                <a:spcPts val="0"/>
              </a:spcAft>
            </a:pPr>
            <a:r>
              <a:rPr sz="5200" b="1">
                <a:solidFill>
                  <a:srgbClr val="FFFFFF"/>
                </a:solidFill>
                <a:latin typeface="Segoe UI"/>
              </a:rPr>
              <a:t>NorthStar</a:t>
            </a:r>
          </a:p>
          <a:p>
            <a:pPr>
              <a:spcAft>
                <a:spcPts val="2000"/>
              </a:spcAft>
            </a:pPr>
            <a:r>
              <a:rPr sz="3000" b="0">
                <a:solidFill>
                  <a:srgbClr val="EAF3F0"/>
                </a:solidFill>
                <a:latin typeface="Segoe UI"/>
              </a:rPr>
              <a:t>Property Investment Consulting</a:t>
            </a:r>
          </a:p>
          <a:p>
            <a:pPr>
              <a:spcAft>
                <a:spcPts val="2600"/>
              </a:spcAft>
            </a:pPr>
            <a:r>
              <a:rPr sz="1700" b="0">
                <a:solidFill>
                  <a:srgbClr val="FFFFFF"/>
                </a:solidFill>
                <a:latin typeface="Segoe UI"/>
              </a:rPr>
              <a:t>Deterministic financial analysis, joined to AI policy research that keeps itself current.</a:t>
            </a:r>
          </a:p>
          <a:p>
            <a:pPr>
              <a:spcAft>
                <a:spcPts val="400"/>
              </a:spcAft>
            </a:pPr>
            <a:r>
              <a:rPr sz="1500" b="1">
                <a:solidFill>
                  <a:srgbClr val="FFFFFF"/>
                </a:solidFill>
                <a:latin typeface="Segoe UI"/>
              </a:rPr>
              <a:t>Team 5 · Ashish Nath · Justin Kretschman</a:t>
            </a:r>
          </a:p>
          <a:p>
            <a:pPr>
              <a:spcAft>
                <a:spcPts val="0"/>
              </a:spcAft>
            </a:pPr>
            <a:r>
              <a:rPr sz="1300" b="0">
                <a:solidFill>
                  <a:srgbClr val="EAF3F0"/>
                </a:solidFill>
                <a:latin typeface="Segoe UI"/>
              </a:rPr>
              <a:t>github.com/AsisNath/Real-Estate-Investment-Decision-Support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1D5C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1002975" cy="1005840"/>
          </a:xfrm>
          <a:prstGeom prst="rect">
            <a:avLst/>
          </a:prstGeom>
          <a:noFill/>
        </p:spPr>
        <p:txBody>
          <a:bodyPr wrap="square">
            <a:spAutoFit/>
          </a:bodyPr>
          <a:lstStyle/>
          <a:p>
            <a:pPr>
              <a:spcAft>
                <a:spcPts val="200"/>
              </a:spcAft>
            </a:pPr>
            <a:r>
              <a:rPr sz="1200" b="1">
                <a:solidFill>
                  <a:srgbClr val="1D5C4D"/>
                </a:solidFill>
                <a:latin typeface="Segoe UI"/>
              </a:rPr>
              <a:t>THE PROBLEM</a:t>
            </a:r>
          </a:p>
          <a:p>
            <a:pPr>
              <a:spcAft>
                <a:spcPts val="0"/>
              </a:spcAft>
            </a:pPr>
            <a:r>
              <a:rPr sz="3000" b="1">
                <a:solidFill>
                  <a:srgbClr val="1F2733"/>
                </a:solidFill>
                <a:latin typeface="Segoe UI"/>
              </a:rPr>
              <a:t>The same question, two answers, two ZIP codes apart</a:t>
            </a:r>
          </a:p>
        </p:txBody>
      </p:sp>
      <p:sp>
        <p:nvSpPr>
          <p:cNvPr id="4" name="TextBox 3"/>
          <p:cNvSpPr txBox="1"/>
          <p:nvPr/>
        </p:nvSpPr>
        <p:spPr>
          <a:xfrm>
            <a:off x="594360" y="1481328"/>
            <a:ext cx="5806440" cy="4023360"/>
          </a:xfrm>
          <a:prstGeom prst="rect">
            <a:avLst/>
          </a:prstGeom>
          <a:noFill/>
        </p:spPr>
        <p:txBody>
          <a:bodyPr wrap="square">
            <a:spAutoFit/>
          </a:bodyPr>
          <a:lstStyle/>
          <a:p>
            <a:pPr>
              <a:spcAft>
                <a:spcPts val="900"/>
              </a:spcAft>
            </a:pPr>
            <a:r>
              <a:rPr sz="1600" b="0">
                <a:solidFill>
                  <a:srgbClr val="1F2733"/>
                </a:solidFill>
                <a:latin typeface="Segoe UI"/>
              </a:rPr>
              <a:t>A small investor decides with a spreadsheet plus whatever Google returns.</a:t>
            </a:r>
          </a:p>
          <a:p>
            <a:pPr>
              <a:spcAft>
                <a:spcPts val="900"/>
              </a:spcAft>
            </a:pPr>
            <a:r>
              <a:rPr sz="1600" b="0">
                <a:solidFill>
                  <a:srgbClr val="1F2733"/>
                </a:solidFill>
                <a:latin typeface="Segoe UI"/>
              </a:rPr>
              <a:t>Rental rules are hyper-local, change often, and the top search results are property-management blogs that go stale silently.</a:t>
            </a:r>
          </a:p>
          <a:p>
            <a:pPr>
              <a:spcAft>
                <a:spcPts val="900"/>
              </a:spcAft>
            </a:pPr>
            <a:r>
              <a:rPr sz="1600" b="0">
                <a:solidFill>
                  <a:srgbClr val="1F2733"/>
                </a:solidFill>
                <a:latin typeface="Segoe UI"/>
              </a:rPr>
              <a:t>Model short-term-rental income on a property where STR is illegal and every number downstream is wrong - IRR, cash flow, the recommendation.</a:t>
            </a:r>
          </a:p>
        </p:txBody>
      </p:sp>
      <p:sp>
        <p:nvSpPr>
          <p:cNvPr id="5" name="TextBox 4"/>
          <p:cNvSpPr txBox="1"/>
          <p:nvPr/>
        </p:nvSpPr>
        <p:spPr>
          <a:xfrm>
            <a:off x="6629400" y="1463040"/>
            <a:ext cx="4937760" cy="365760"/>
          </a:xfrm>
          <a:prstGeom prst="rect">
            <a:avLst/>
          </a:prstGeom>
          <a:noFill/>
        </p:spPr>
        <p:txBody>
          <a:bodyPr wrap="square">
            <a:spAutoFit/>
          </a:bodyPr>
          <a:lstStyle/>
          <a:p>
            <a:pPr>
              <a:spcAft>
                <a:spcPts val="0"/>
              </a:spcAft>
            </a:pPr>
            <a:r>
              <a:rPr sz="1500" b="1">
                <a:solidFill>
                  <a:srgbClr val="1F2733"/>
                </a:solidFill>
                <a:latin typeface="Segoe UI"/>
              </a:rPr>
              <a:t>We found this in our own test data:</a:t>
            </a:r>
          </a:p>
        </p:txBody>
      </p:sp>
      <p:sp>
        <p:nvSpPr>
          <p:cNvPr id="6" name="Rounded Rectangle 5"/>
          <p:cNvSpPr/>
          <p:nvPr/>
        </p:nvSpPr>
        <p:spPr>
          <a:xfrm>
            <a:off x="6629400" y="1938528"/>
            <a:ext cx="4937760" cy="1298448"/>
          </a:xfrm>
          <a:prstGeom prst="roundRect">
            <a:avLst/>
          </a:prstGeom>
          <a:solidFill>
            <a:srgbClr val="FFFFFF"/>
          </a:solidFill>
          <a:ln>
            <a:solidFill>
              <a:srgbClr val="1D5C4D"/>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spcAft>
                <a:spcPts val="300"/>
              </a:spcAft>
            </a:pPr>
            <a:r>
              <a:rPr sz="1400" b="1">
                <a:solidFill>
                  <a:srgbClr val="1D5C4D"/>
                </a:solidFill>
                <a:latin typeface="Segoe UI"/>
              </a:rPr>
              <a:t>63043 · Maryland Heights, MO</a:t>
            </a:r>
          </a:p>
          <a:p>
            <a:pPr algn="l">
              <a:spcAft>
                <a:spcPts val="0"/>
              </a:spcAft>
            </a:pPr>
            <a:r>
              <a:rPr sz="1300" b="0">
                <a:solidFill>
                  <a:srgbClr val="1F2733"/>
                </a:solidFill>
                <a:latin typeface="Segoe UI"/>
              </a:rPr>
              <a:t>STR allowed for investors</a:t>
            </a:r>
            <a:br/>
            <a:r>
              <a:rPr sz="1300" b="0">
                <a:solidFill>
                  <a:srgbClr val="1F2733"/>
                </a:solidFill>
                <a:latin typeface="Segoe UI"/>
              </a:rPr>
              <a:t>owner OR manager within 1 hour</a:t>
            </a:r>
          </a:p>
        </p:txBody>
      </p:sp>
      <p:sp>
        <p:nvSpPr>
          <p:cNvPr id="7" name="Rounded Rectangle 6"/>
          <p:cNvSpPr/>
          <p:nvPr/>
        </p:nvSpPr>
        <p:spPr>
          <a:xfrm>
            <a:off x="6629400" y="3419856"/>
            <a:ext cx="4937760" cy="1298448"/>
          </a:xfrm>
          <a:prstGeom prst="roundRect">
            <a:avLst/>
          </a:prstGeom>
          <a:solidFill>
            <a:srgbClr val="FFFFFF"/>
          </a:solidFill>
          <a:ln>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spcAft>
                <a:spcPts val="300"/>
              </a:spcAft>
            </a:pPr>
            <a:r>
              <a:rPr sz="1400" b="1">
                <a:solidFill>
                  <a:srgbClr val="B3261E"/>
                </a:solidFill>
                <a:latin typeface="Segoe UI"/>
              </a:rPr>
              <a:t>63021 · Ballwin, MO</a:t>
            </a:r>
          </a:p>
          <a:p>
            <a:pPr algn="l">
              <a:spcAft>
                <a:spcPts val="0"/>
              </a:spcAft>
            </a:pPr>
            <a:r>
              <a:rPr sz="1300" b="0">
                <a:solidFill>
                  <a:srgbClr val="1F2733"/>
                </a:solidFill>
                <a:latin typeface="Segoe UI"/>
              </a:rPr>
              <a:t>STR closed to investors</a:t>
            </a:r>
            <a:br/>
            <a:r>
              <a:rPr sz="1300" b="0">
                <a:solidFill>
                  <a:srgbClr val="1F2733"/>
                </a:solidFill>
                <a:latin typeface="Segoe UI"/>
              </a:rPr>
              <a:t>owner must live there 180 days/yr</a:t>
            </a:r>
          </a:p>
        </p:txBody>
      </p:sp>
      <p:sp>
        <p:nvSpPr>
          <p:cNvPr id="8" name="TextBox 7"/>
          <p:cNvSpPr txBox="1"/>
          <p:nvPr/>
        </p:nvSpPr>
        <p:spPr>
          <a:xfrm>
            <a:off x="6629400" y="4983480"/>
            <a:ext cx="4937760" cy="1371600"/>
          </a:xfrm>
          <a:prstGeom prst="rect">
            <a:avLst/>
          </a:prstGeom>
          <a:noFill/>
        </p:spPr>
        <p:txBody>
          <a:bodyPr wrap="square">
            <a:spAutoFit/>
          </a:bodyPr>
          <a:lstStyle/>
          <a:p>
            <a:pPr>
              <a:spcAft>
                <a:spcPts val="600"/>
              </a:spcAft>
            </a:pPr>
            <a:r>
              <a:rPr sz="1600" b="1">
                <a:solidFill>
                  <a:srgbClr val="B3261E"/>
                </a:solidFill>
                <a:latin typeface="Segoe UI"/>
              </a:rPr>
              <a:t>Same state. Same county. Same statutes.</a:t>
            </a:r>
            <a:br/>
            <a:r>
              <a:rPr sz="1600" b="1">
                <a:solidFill>
                  <a:srgbClr val="B3261E"/>
                </a:solidFill>
                <a:latin typeface="Segoe UI"/>
              </a:rPr>
              <a:t>Opposite conclusions.</a:t>
            </a:r>
          </a:p>
          <a:p>
            <a:pPr>
              <a:spcAft>
                <a:spcPts val="0"/>
              </a:spcAft>
            </a:pPr>
            <a:r>
              <a:rPr sz="1300" b="0">
                <a:solidFill>
                  <a:srgbClr val="5B6B7C"/>
                </a:solidFill>
                <a:latin typeface="Segoe UI"/>
              </a:rPr>
              <a:t>No static dataset catches that. It has to be researched, per address, and kept fresh.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1D5C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1002975" cy="1005840"/>
          </a:xfrm>
          <a:prstGeom prst="rect">
            <a:avLst/>
          </a:prstGeom>
          <a:noFill/>
        </p:spPr>
        <p:txBody>
          <a:bodyPr wrap="square">
            <a:spAutoFit/>
          </a:bodyPr>
          <a:lstStyle/>
          <a:p>
            <a:pPr>
              <a:spcAft>
                <a:spcPts val="200"/>
              </a:spcAft>
            </a:pPr>
            <a:r>
              <a:rPr sz="1200" b="1">
                <a:solidFill>
                  <a:srgbClr val="1D5C4D"/>
                </a:solidFill>
                <a:latin typeface="Segoe UI"/>
              </a:rPr>
              <a:t>WHAT WE BUILT</a:t>
            </a:r>
          </a:p>
          <a:p>
            <a:pPr>
              <a:spcAft>
                <a:spcPts val="0"/>
              </a:spcAft>
            </a:pPr>
            <a:r>
              <a:rPr sz="3000" b="1">
                <a:solidFill>
                  <a:srgbClr val="1F2733"/>
                </a:solidFill>
                <a:latin typeface="Segoe UI"/>
              </a:rPr>
              <a:t>One report, two layers that never mix</a:t>
            </a:r>
          </a:p>
        </p:txBody>
      </p:sp>
      <p:sp>
        <p:nvSpPr>
          <p:cNvPr id="4" name="TextBox 3"/>
          <p:cNvSpPr txBox="1"/>
          <p:nvPr/>
        </p:nvSpPr>
        <p:spPr>
          <a:xfrm>
            <a:off x="594360" y="1463040"/>
            <a:ext cx="5394960" cy="4206240"/>
          </a:xfrm>
          <a:prstGeom prst="rect">
            <a:avLst/>
          </a:prstGeom>
          <a:noFill/>
        </p:spPr>
        <p:txBody>
          <a:bodyPr wrap="square">
            <a:spAutoFit/>
          </a:bodyPr>
          <a:lstStyle/>
          <a:p>
            <a:pPr>
              <a:spcAft>
                <a:spcPts val="300"/>
              </a:spcAft>
            </a:pPr>
            <a:r>
              <a:rPr sz="1500" b="1">
                <a:solidFill>
                  <a:srgbClr val="1F2733"/>
                </a:solidFill>
                <a:latin typeface="Segoe UI"/>
              </a:rPr>
              <a:t>Layer 1 - the math.  </a:t>
            </a:r>
            <a:r>
              <a:rPr sz="1500">
                <a:solidFill>
                  <a:srgbClr val="5B6B7C"/>
                </a:solidFill>
                <a:latin typeface="Segoe UI"/>
              </a:rPr>
              <a:t>NOI, DSCR, IRR, cap rate, equity multiple. Plain Python, unit-tested, never generated by a model. Every number is auditable.</a:t>
            </a:r>
          </a:p>
          <a:p>
            <a:pPr>
              <a:spcAft>
                <a:spcPts val="300"/>
              </a:spcAft>
            </a:pPr>
            <a:r>
              <a:rPr sz="1500" b="1">
                <a:solidFill>
                  <a:srgbClr val="1F2733"/>
                </a:solidFill>
                <a:latin typeface="Segoe UI"/>
              </a:rPr>
              <a:t>Layer 2 - the rules.  </a:t>
            </a:r>
            <a:r>
              <a:rPr sz="1500">
                <a:solidFill>
                  <a:srgbClr val="5B6B7C"/>
                </a:solidFill>
                <a:latin typeface="Segoe UI"/>
              </a:rPr>
              <a:t>An Agent Skill researches STR ordinances, landlord-tenant law, rent control, and HOA authority with live web search, then writes a source-cited note into the knowledge bank.</a:t>
            </a:r>
          </a:p>
          <a:p>
            <a:pPr>
              <a:spcAft>
                <a:spcPts val="300"/>
              </a:spcAft>
            </a:pPr>
            <a:r>
              <a:rPr sz="1500" b="1">
                <a:solidFill>
                  <a:srgbClr val="1F2733"/>
                </a:solidFill>
                <a:latin typeface="Segoe UI"/>
              </a:rPr>
              <a:t>They meet at the decision.  </a:t>
            </a:r>
            <a:r>
              <a:rPr sz="1500">
                <a:solidFill>
                  <a:srgbClr val="5B6B7C"/>
                </a:solidFill>
                <a:latin typeface="Segoe UI"/>
              </a:rPr>
              <a:t>Researched findings become risk flags, a diligence checklist, and assumption conflicts - the app tells you when your own rent-growth input exceeds a legal cap.</a:t>
            </a:r>
          </a:p>
        </p:txBody>
      </p:sp>
      <p:sp>
        <p:nvSpPr>
          <p:cNvPr id="5" name="TextBox 4"/>
          <p:cNvSpPr txBox="1"/>
          <p:nvPr/>
        </p:nvSpPr>
        <p:spPr>
          <a:xfrm>
            <a:off x="6355080" y="1463040"/>
            <a:ext cx="5257800" cy="4206240"/>
          </a:xfrm>
          <a:prstGeom prst="rect">
            <a:avLst/>
          </a:prstGeom>
          <a:noFill/>
        </p:spPr>
        <p:txBody>
          <a:bodyPr wrap="square">
            <a:spAutoFit/>
          </a:bodyPr>
          <a:lstStyle/>
          <a:p>
            <a:pPr>
              <a:spcAft>
                <a:spcPts val="600"/>
              </a:spcAft>
            </a:pPr>
            <a:r>
              <a:rPr sz="1400" b="1">
                <a:solidFill>
                  <a:srgbClr val="1F2733"/>
                </a:solidFill>
                <a:latin typeface="Segoe UI"/>
              </a:rPr>
              <a:t>Enter address + assumptions</a:t>
            </a:r>
          </a:p>
          <a:p>
            <a:pPr>
              <a:spcAft>
                <a:spcPts val="700"/>
              </a:spcAft>
            </a:pPr>
            <a:r>
              <a:rPr sz="1300" b="0">
                <a:solidFill>
                  <a:srgbClr val="5B6B7C"/>
                </a:solidFill>
                <a:latin typeface="Segoe UI"/>
              </a:rPr>
              <a:t>↓  Report renders immediately (offline, deterministic)</a:t>
            </a:r>
          </a:p>
          <a:p>
            <a:pPr>
              <a:spcAft>
                <a:spcPts val="700"/>
              </a:spcAft>
            </a:pPr>
            <a:r>
              <a:rPr sz="1300" b="0">
                <a:solidFill>
                  <a:srgbClr val="5B6B7C"/>
                </a:solidFill>
                <a:latin typeface="Segoe UI"/>
              </a:rPr>
              <a:t>↓  No policy note for this ZIP?  research starts itself</a:t>
            </a:r>
          </a:p>
          <a:p>
            <a:pPr>
              <a:spcAft>
                <a:spcPts val="700"/>
              </a:spcAft>
            </a:pPr>
            <a:r>
              <a:rPr sz="1300" b="0">
                <a:solidFill>
                  <a:srgbClr val="5B6B7C"/>
                </a:solidFill>
                <a:latin typeface="Segoe UI"/>
              </a:rPr>
              <a:t>↓  Agent runs the Skill with live web search</a:t>
            </a:r>
          </a:p>
          <a:p>
            <a:pPr>
              <a:spcAft>
                <a:spcPts val="700"/>
              </a:spcAft>
            </a:pPr>
            <a:r>
              <a:rPr sz="1300" b="0">
                <a:solidFill>
                  <a:srgbClr val="5B6B7C"/>
                </a:solidFill>
                <a:latin typeface="Segoe UI"/>
              </a:rPr>
              <a:t>↓  Cited note saved to researched/zips/&lt;zip&gt;/</a:t>
            </a:r>
          </a:p>
          <a:p>
            <a:pPr>
              <a:spcAft>
                <a:spcPts val="700"/>
              </a:spcAft>
            </a:pPr>
            <a:r>
              <a:rPr sz="1300" b="0">
                <a:solidFill>
                  <a:srgbClr val="5B6B7C"/>
                </a:solidFill>
                <a:latin typeface="Segoe UI"/>
              </a:rPr>
              <a:t>↓  Next run: flags, conflicts, and risk update</a:t>
            </a:r>
          </a:p>
          <a:p>
            <a:pPr>
              <a:spcAft>
                <a:spcPts val="200"/>
              </a:spcAft>
            </a:pPr>
            <a:r>
              <a:rPr sz="1300" b="1">
                <a:solidFill>
                  <a:srgbClr val="1D5C4D"/>
                </a:solidFill>
                <a:latin typeface="Segoe UI"/>
              </a:rPr>
              <a:t>Research never blocks the report.</a:t>
            </a:r>
          </a:p>
          <a:p>
            <a:pPr>
              <a:spcAft>
                <a:spcPts val="0"/>
              </a:spcAft>
            </a:pPr>
            <a:r>
              <a:rPr sz="1200" b="0">
                <a:solidFill>
                  <a:srgbClr val="5B6B7C"/>
                </a:solidFill>
                <a:latin typeface="Segoe UI"/>
              </a:rPr>
              <a:t>No agent, no internet, or a reply that is not a policy note: nothing is saved and the app falls back to a copy-paste prompt. It degrades, never guesses.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1D5C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1002975" cy="1005840"/>
          </a:xfrm>
          <a:prstGeom prst="rect">
            <a:avLst/>
          </a:prstGeom>
          <a:noFill/>
        </p:spPr>
        <p:txBody>
          <a:bodyPr wrap="square">
            <a:spAutoFit/>
          </a:bodyPr>
          <a:lstStyle/>
          <a:p>
            <a:pPr>
              <a:spcAft>
                <a:spcPts val="200"/>
              </a:spcAft>
            </a:pPr>
            <a:r>
              <a:rPr sz="1200" b="1">
                <a:solidFill>
                  <a:srgbClr val="1D5C4D"/>
                </a:solidFill>
                <a:latin typeface="Segoe UI"/>
              </a:rPr>
              <a:t>DESIGN &amp; APPROACH</a:t>
            </a:r>
          </a:p>
          <a:p>
            <a:pPr>
              <a:spcAft>
                <a:spcPts val="0"/>
              </a:spcAft>
            </a:pPr>
            <a:r>
              <a:rPr sz="3000" b="1">
                <a:solidFill>
                  <a:srgbClr val="1F2733"/>
                </a:solidFill>
                <a:latin typeface="Segoe UI"/>
              </a:rPr>
              <a:t>Four decisions we would defend</a:t>
            </a:r>
          </a:p>
        </p:txBody>
      </p:sp>
      <p:sp>
        <p:nvSpPr>
          <p:cNvPr id="4" name="TextBox 3"/>
          <p:cNvSpPr txBox="1"/>
          <p:nvPr/>
        </p:nvSpPr>
        <p:spPr>
          <a:xfrm>
            <a:off x="594360" y="1481328"/>
            <a:ext cx="11002975" cy="4572000"/>
          </a:xfrm>
          <a:prstGeom prst="rect">
            <a:avLst/>
          </a:prstGeom>
          <a:noFill/>
        </p:spPr>
        <p:txBody>
          <a:bodyPr wrap="square">
            <a:spAutoFit/>
          </a:bodyPr>
          <a:lstStyle/>
          <a:p>
            <a:pPr>
              <a:spcAft>
                <a:spcPts val="300"/>
              </a:spcAft>
            </a:pPr>
            <a:r>
              <a:rPr sz="1450" b="1">
                <a:solidFill>
                  <a:srgbClr val="1F2733"/>
                </a:solidFill>
                <a:latin typeface="Segoe UI"/>
              </a:rPr>
              <a:t>1 · Keep the LLM out of the arithmetic.  </a:t>
            </a:r>
            <a:r>
              <a:rPr sz="1450">
                <a:solidFill>
                  <a:srgbClr val="5B6B7C"/>
                </a:solidFill>
                <a:latin typeface="Segoe UI"/>
              </a:rPr>
              <a:t>Financial results must be reproducible and checkable. Determinism is the feature; the AI is scoped to research, where it adds real value.</a:t>
            </a:r>
          </a:p>
          <a:p>
            <a:pPr>
              <a:spcAft>
                <a:spcPts val="300"/>
              </a:spcAft>
            </a:pPr>
            <a:r>
              <a:rPr sz="1450" b="1">
                <a:solidFill>
                  <a:srgbClr val="1F2733"/>
                </a:solidFill>
                <a:latin typeface="Segoe UI"/>
              </a:rPr>
              <a:t>2 · Make provenance structural, not a label.  </a:t>
            </a:r>
            <a:r>
              <a:rPr sz="1450">
                <a:solidFill>
                  <a:srgbClr val="5B6B7C"/>
                </a:solidFill>
                <a:latin typeface="Segoe UI"/>
              </a:rPr>
              <a:t>researched/ is written only by the Skill, user/ only by people - enforced in code, so the in-app form physically cannot write an AI-labelled note. Every finding names its file.</a:t>
            </a:r>
          </a:p>
          <a:p>
            <a:pPr>
              <a:spcAft>
                <a:spcPts val="300"/>
              </a:spcAft>
            </a:pPr>
            <a:r>
              <a:rPr sz="1450" b="1">
                <a:solidFill>
                  <a:srgbClr val="1F2733"/>
                </a:solidFill>
                <a:latin typeface="Segoe UI"/>
              </a:rPr>
              <a:t>3 · Delegate to an agent the user already signed into.  </a:t>
            </a:r>
            <a:r>
              <a:rPr sz="1450">
                <a:solidFill>
                  <a:srgbClr val="5B6B7C"/>
                </a:solidFill>
                <a:latin typeface="Segoe UI"/>
              </a:rPr>
              <a:t>Research runs through the codex or claude CLI on PATH, which brings its own login and web search. Zero credential setup, and no API key stored in the project. An Anthropic API key is the fallback, not the requirement.</a:t>
            </a:r>
          </a:p>
          <a:p>
            <a:pPr>
              <a:spcAft>
                <a:spcPts val="300"/>
              </a:spcAft>
            </a:pPr>
            <a:r>
              <a:rPr sz="1450" b="1">
                <a:solidFill>
                  <a:srgbClr val="1F2733"/>
                </a:solidFill>
                <a:latin typeface="Segoe UI"/>
              </a:rPr>
              <a:t>4 · State missing data; never fill the gap.  </a:t>
            </a:r>
            <a:r>
              <a:rPr sz="1450">
                <a:solidFill>
                  <a:srgbClr val="5B6B7C"/>
                </a:solidFill>
                <a:latin typeface="Segoe UI"/>
              </a:rPr>
              <a:t>ZIP misses fall back to state, then national, and say which. Blocked government pages are tagged 'confirm with the agency' rather than quietly replaced with a blog.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1D5C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1002975" cy="1005840"/>
          </a:xfrm>
          <a:prstGeom prst="rect">
            <a:avLst/>
          </a:prstGeom>
          <a:noFill/>
        </p:spPr>
        <p:txBody>
          <a:bodyPr wrap="square">
            <a:spAutoFit/>
          </a:bodyPr>
          <a:lstStyle/>
          <a:p>
            <a:pPr>
              <a:spcAft>
                <a:spcPts val="200"/>
              </a:spcAft>
            </a:pPr>
            <a:r>
              <a:rPr sz="1200" b="1">
                <a:solidFill>
                  <a:srgbClr val="1D5C4D"/>
                </a:solidFill>
                <a:latin typeface="Segoe UI"/>
              </a:rPr>
              <a:t>WORKING PROTOTYPE</a:t>
            </a:r>
          </a:p>
          <a:p>
            <a:pPr>
              <a:spcAft>
                <a:spcPts val="0"/>
              </a:spcAft>
            </a:pPr>
            <a:r>
              <a:rPr sz="3000" b="1">
                <a:solidFill>
                  <a:srgbClr val="1F2733"/>
                </a:solidFill>
                <a:latin typeface="Segoe UI"/>
              </a:rPr>
              <a:t>Live demo</a:t>
            </a:r>
          </a:p>
        </p:txBody>
      </p:sp>
      <p:sp>
        <p:nvSpPr>
          <p:cNvPr id="4" name="TextBox 3"/>
          <p:cNvSpPr txBox="1"/>
          <p:nvPr/>
        </p:nvSpPr>
        <p:spPr>
          <a:xfrm>
            <a:off x="594360" y="1481328"/>
            <a:ext cx="5943600" cy="4572000"/>
          </a:xfrm>
          <a:prstGeom prst="rect">
            <a:avLst/>
          </a:prstGeom>
          <a:noFill/>
        </p:spPr>
        <p:txBody>
          <a:bodyPr wrap="square">
            <a:spAutoFit/>
          </a:bodyPr>
          <a:lstStyle/>
          <a:p>
            <a:pPr>
              <a:spcAft>
                <a:spcPts val="300"/>
              </a:spcAft>
            </a:pPr>
            <a:r>
              <a:rPr sz="1500" b="1">
                <a:solidFill>
                  <a:srgbClr val="1F2733"/>
                </a:solidFill>
                <a:latin typeface="Segoe UI"/>
              </a:rPr>
              <a:t>1.  </a:t>
            </a:r>
            <a:r>
              <a:rPr sz="1500">
                <a:solidFill>
                  <a:srgbClr val="5B6B7C"/>
                </a:solidFill>
                <a:latin typeface="Segoe UI"/>
              </a:rPr>
              <a:t>Analyze 745 Woodrun Dr, Ballwin MO - full investor report, instant.</a:t>
            </a:r>
          </a:p>
          <a:p>
            <a:pPr>
              <a:spcAft>
                <a:spcPts val="300"/>
              </a:spcAft>
            </a:pPr>
            <a:r>
              <a:rPr sz="1500" b="1">
                <a:solidFill>
                  <a:srgbClr val="1F2733"/>
                </a:solidFill>
                <a:latin typeface="Segoe UI"/>
              </a:rPr>
              <a:t>2.  </a:t>
            </a:r>
            <a:r>
              <a:rPr sz="1500">
                <a:solidFill>
                  <a:srgbClr val="5B6B7C"/>
                </a:solidFill>
                <a:latin typeface="Segoe UI"/>
              </a:rPr>
              <a:t>Address check catches a city/state/ZIP mismatch before it corrupts a result.</a:t>
            </a:r>
          </a:p>
          <a:p>
            <a:pPr>
              <a:spcAft>
                <a:spcPts val="300"/>
              </a:spcAft>
            </a:pPr>
            <a:r>
              <a:rPr sz="1500" b="1">
                <a:solidFill>
                  <a:srgbClr val="1F2733"/>
                </a:solidFill>
                <a:latin typeface="Segoe UI"/>
              </a:rPr>
              <a:t>3.  </a:t>
            </a:r>
            <a:r>
              <a:rPr sz="1500">
                <a:solidFill>
                  <a:srgbClr val="5B6B7C"/>
                </a:solidFill>
                <a:latin typeface="Segoe UI"/>
              </a:rPr>
              <a:t>Enter a ZIP with no note - research starts itself in the background.</a:t>
            </a:r>
          </a:p>
          <a:p>
            <a:pPr>
              <a:spcAft>
                <a:spcPts val="300"/>
              </a:spcAft>
            </a:pPr>
            <a:r>
              <a:rPr sz="1500" b="1">
                <a:solidFill>
                  <a:srgbClr val="1F2733"/>
                </a:solidFill>
                <a:latin typeface="Segoe UI"/>
              </a:rPr>
              <a:t>4.  </a:t>
            </a:r>
            <a:r>
              <a:rPr sz="1500">
                <a:solidFill>
                  <a:srgbClr val="5B6B7C"/>
                </a:solidFill>
                <a:latin typeface="Segoe UI"/>
              </a:rPr>
              <a:t>Open the saved note: every fact carries a source link, a date, and an official-vs-secondary tag.</a:t>
            </a:r>
          </a:p>
          <a:p>
            <a:pPr>
              <a:spcAft>
                <a:spcPts val="300"/>
              </a:spcAft>
            </a:pPr>
            <a:r>
              <a:rPr sz="1500" b="1">
                <a:solidFill>
                  <a:srgbClr val="1F2733"/>
                </a:solidFill>
                <a:latin typeface="Segoe UI"/>
              </a:rPr>
              <a:t>5.  </a:t>
            </a:r>
            <a:r>
              <a:rPr sz="1500">
                <a:solidFill>
                  <a:srgbClr val="5B6B7C"/>
                </a:solidFill>
                <a:latin typeface="Segoe UI"/>
              </a:rPr>
              <a:t>Re-run: policy risk rises, STR income is flagged unavailable, the recommendation moves.</a:t>
            </a:r>
          </a:p>
          <a:p>
            <a:pPr>
              <a:spcAft>
                <a:spcPts val="300"/>
              </a:spcAft>
            </a:pPr>
            <a:r>
              <a:rPr sz="1500" b="1">
                <a:solidFill>
                  <a:srgbClr val="1F2733"/>
                </a:solidFill>
                <a:latin typeface="Segoe UI"/>
              </a:rPr>
              <a:t>6.  </a:t>
            </a:r>
            <a:r>
              <a:rPr sz="1500">
                <a:solidFill>
                  <a:srgbClr val="5B6B7C"/>
                </a:solidFill>
                <a:latin typeface="Segoe UI"/>
              </a:rPr>
              <a:t>One click: a printable Policy Brief to hand a client.</a:t>
            </a:r>
          </a:p>
        </p:txBody>
      </p:sp>
      <p:sp>
        <p:nvSpPr>
          <p:cNvPr id="5" name="TextBox 4"/>
          <p:cNvSpPr txBox="1"/>
          <p:nvPr/>
        </p:nvSpPr>
        <p:spPr>
          <a:xfrm>
            <a:off x="6858000" y="1600200"/>
            <a:ext cx="4754880" cy="4206240"/>
          </a:xfrm>
          <a:prstGeom prst="rect">
            <a:avLst/>
          </a:prstGeom>
          <a:noFill/>
        </p:spPr>
        <p:txBody>
          <a:bodyPr wrap="square">
            <a:spAutoFit/>
          </a:bodyPr>
          <a:lstStyle/>
          <a:p>
            <a:pPr>
              <a:spcAft>
                <a:spcPts val="800"/>
              </a:spcAft>
            </a:pPr>
            <a:r>
              <a:rPr sz="1700" b="1">
                <a:solidFill>
                  <a:srgbClr val="1D5C4D"/>
                </a:solidFill>
                <a:latin typeface="Segoe UI"/>
              </a:rPr>
              <a:t>It already ran without us</a:t>
            </a:r>
          </a:p>
          <a:p>
            <a:pPr>
              <a:spcAft>
                <a:spcPts val="800"/>
              </a:spcAft>
            </a:pPr>
            <a:r>
              <a:rPr sz="1400" b="0">
                <a:solidFill>
                  <a:srgbClr val="1F2733"/>
                </a:solidFill>
                <a:latin typeface="Segoe UI"/>
              </a:rPr>
              <a:t>While preparing this deck we found a policy note in the repository that neither of us wrote by hand.</a:t>
            </a:r>
          </a:p>
          <a:p>
            <a:pPr>
              <a:spcAft>
                <a:spcPts val="1000"/>
              </a:spcAft>
            </a:pPr>
            <a:r>
              <a:rPr sz="1400" b="0">
                <a:solidFill>
                  <a:srgbClr val="1F2733"/>
                </a:solidFill>
                <a:latin typeface="Segoe UI"/>
              </a:rPr>
              <a:t>A teammate analysed 17723 Mueller Rd, Wildwood MO 63038. The app researched the ZIP on its own and saved a note with 20 official citations.</a:t>
            </a:r>
          </a:p>
          <a:p>
            <a:pPr>
              <a:spcAft>
                <a:spcPts val="0"/>
              </a:spcAft>
            </a:pPr>
            <a:r>
              <a:rPr sz="1400" b="1">
                <a:solidFill>
                  <a:srgbClr val="B3261E"/>
                </a:solidFill>
                <a:latin typeface="Segoe UI"/>
              </a:rPr>
              <a:t>That is the feature working unattended, not a scripted demo.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1D5C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1002975" cy="1005840"/>
          </a:xfrm>
          <a:prstGeom prst="rect">
            <a:avLst/>
          </a:prstGeom>
          <a:noFill/>
        </p:spPr>
        <p:txBody>
          <a:bodyPr wrap="square">
            <a:spAutoFit/>
          </a:bodyPr>
          <a:lstStyle/>
          <a:p>
            <a:pPr>
              <a:spcAft>
                <a:spcPts val="200"/>
              </a:spcAft>
            </a:pPr>
            <a:r>
              <a:rPr sz="1200" b="1">
                <a:solidFill>
                  <a:srgbClr val="1D5C4D"/>
                </a:solidFill>
                <a:latin typeface="Segoe UI"/>
              </a:rPr>
              <a:t>QUALITY &amp; SECURITY</a:t>
            </a:r>
          </a:p>
          <a:p>
            <a:pPr>
              <a:spcAft>
                <a:spcPts val="0"/>
              </a:spcAft>
            </a:pPr>
            <a:r>
              <a:rPr sz="3000" b="1">
                <a:solidFill>
                  <a:srgbClr val="1F2733"/>
                </a:solidFill>
                <a:latin typeface="Segoe UI"/>
              </a:rPr>
              <a:t>Tested and hardened, not just working</a:t>
            </a:r>
          </a:p>
        </p:txBody>
      </p:sp>
      <p:sp>
        <p:nvSpPr>
          <p:cNvPr id="4" name="Rounded Rectangle 3"/>
          <p:cNvSpPr/>
          <p:nvPr/>
        </p:nvSpPr>
        <p:spPr>
          <a:xfrm>
            <a:off x="594360" y="1417320"/>
            <a:ext cx="2651760" cy="1234440"/>
          </a:xfrm>
          <a:prstGeom prst="roundRect">
            <a:avLst/>
          </a:prstGeom>
          <a:solidFill>
            <a:srgbClr val="EAF3F0"/>
          </a:solidFill>
          <a:ln>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0"/>
              </a:spcAft>
            </a:pPr>
            <a:r>
              <a:rPr sz="3000" b="1">
                <a:solidFill>
                  <a:srgbClr val="1D5C4D"/>
                </a:solidFill>
                <a:latin typeface="Segoe UI"/>
              </a:rPr>
              <a:t>138</a:t>
            </a:r>
          </a:p>
          <a:p>
            <a:pPr algn="ctr">
              <a:spcAft>
                <a:spcPts val="0"/>
              </a:spcAft>
            </a:pPr>
            <a:r>
              <a:rPr sz="1100" b="0">
                <a:solidFill>
                  <a:srgbClr val="5B6B7C"/>
                </a:solidFill>
                <a:latin typeface="Segoe UI"/>
              </a:rPr>
              <a:t>automated tests</a:t>
            </a:r>
          </a:p>
        </p:txBody>
      </p:sp>
      <p:sp>
        <p:nvSpPr>
          <p:cNvPr id="5" name="Rounded Rectangle 4"/>
          <p:cNvSpPr/>
          <p:nvPr/>
        </p:nvSpPr>
        <p:spPr>
          <a:xfrm>
            <a:off x="3456432" y="1417320"/>
            <a:ext cx="2651760" cy="1234440"/>
          </a:xfrm>
          <a:prstGeom prst="roundRect">
            <a:avLst/>
          </a:prstGeom>
          <a:solidFill>
            <a:srgbClr val="EAF3F0"/>
          </a:solidFill>
          <a:ln>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0"/>
              </a:spcAft>
            </a:pPr>
            <a:r>
              <a:rPr sz="3000" b="1">
                <a:solidFill>
                  <a:srgbClr val="1D5C4D"/>
                </a:solidFill>
                <a:latin typeface="Segoe UI"/>
              </a:rPr>
              <a:t>41,488</a:t>
            </a:r>
          </a:p>
          <a:p>
            <a:pPr algn="ctr">
              <a:spcAft>
                <a:spcPts val="0"/>
              </a:spcAft>
            </a:pPr>
            <a:r>
              <a:rPr sz="1100" b="0">
                <a:solidFill>
                  <a:srgbClr val="5B6B7C"/>
                </a:solidFill>
                <a:latin typeface="Segoe UI"/>
              </a:rPr>
              <a:t>US ZIPs bundled</a:t>
            </a:r>
            <a:br/>
            <a:r>
              <a:rPr sz="1100" b="0">
                <a:solidFill>
                  <a:srgbClr val="5B6B7C"/>
                </a:solidFill>
                <a:latin typeface="Segoe UI"/>
              </a:rPr>
              <a:t>for offline checks</a:t>
            </a:r>
          </a:p>
        </p:txBody>
      </p:sp>
      <p:sp>
        <p:nvSpPr>
          <p:cNvPr id="6" name="Rounded Rectangle 5"/>
          <p:cNvSpPr/>
          <p:nvPr/>
        </p:nvSpPr>
        <p:spPr>
          <a:xfrm>
            <a:off x="6318504" y="1417320"/>
            <a:ext cx="2651760" cy="1234440"/>
          </a:xfrm>
          <a:prstGeom prst="roundRect">
            <a:avLst/>
          </a:prstGeom>
          <a:solidFill>
            <a:srgbClr val="EAF3F0"/>
          </a:solidFill>
          <a:ln>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0"/>
              </a:spcAft>
            </a:pPr>
            <a:r>
              <a:rPr sz="3000" b="1">
                <a:solidFill>
                  <a:srgbClr val="1D5C4D"/>
                </a:solidFill>
                <a:latin typeface="Segoe UI"/>
              </a:rPr>
              <a:t>10</a:t>
            </a:r>
          </a:p>
          <a:p>
            <a:pPr algn="ctr">
              <a:spcAft>
                <a:spcPts val="0"/>
              </a:spcAft>
            </a:pPr>
            <a:r>
              <a:rPr sz="1100" b="0">
                <a:solidFill>
                  <a:srgbClr val="5B6B7C"/>
                </a:solidFill>
                <a:latin typeface="Segoe UI"/>
              </a:rPr>
              <a:t>cited policy notes</a:t>
            </a:r>
          </a:p>
        </p:txBody>
      </p:sp>
      <p:sp>
        <p:nvSpPr>
          <p:cNvPr id="7" name="Rounded Rectangle 6"/>
          <p:cNvSpPr/>
          <p:nvPr/>
        </p:nvSpPr>
        <p:spPr>
          <a:xfrm>
            <a:off x="9180576" y="1417320"/>
            <a:ext cx="2651760" cy="1234440"/>
          </a:xfrm>
          <a:prstGeom prst="roundRect">
            <a:avLst/>
          </a:prstGeom>
          <a:solidFill>
            <a:srgbClr val="EAF3F0"/>
          </a:solidFill>
          <a:ln>
            <a:solidFill>
              <a:srgbClr val="D9E0E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0"/>
              </a:spcAft>
            </a:pPr>
            <a:r>
              <a:rPr sz="3000" b="1">
                <a:solidFill>
                  <a:srgbClr val="1D5C4D"/>
                </a:solidFill>
                <a:latin typeface="Segoe UI"/>
              </a:rPr>
              <a:t>0</a:t>
            </a:r>
          </a:p>
          <a:p>
            <a:pPr algn="ctr">
              <a:spcAft>
                <a:spcPts val="0"/>
              </a:spcAft>
            </a:pPr>
            <a:r>
              <a:rPr sz="1100" b="0">
                <a:solidFill>
                  <a:srgbClr val="5B6B7C"/>
                </a:solidFill>
                <a:latin typeface="Segoe UI"/>
              </a:rPr>
              <a:t>secrets in the repo</a:t>
            </a:r>
          </a:p>
        </p:txBody>
      </p:sp>
      <p:sp>
        <p:nvSpPr>
          <p:cNvPr id="8" name="TextBox 7"/>
          <p:cNvSpPr txBox="1"/>
          <p:nvPr/>
        </p:nvSpPr>
        <p:spPr>
          <a:xfrm>
            <a:off x="594360" y="2971800"/>
            <a:ext cx="5394960" cy="3108960"/>
          </a:xfrm>
          <a:prstGeom prst="rect">
            <a:avLst/>
          </a:prstGeom>
          <a:noFill/>
        </p:spPr>
        <p:txBody>
          <a:bodyPr wrap="square">
            <a:spAutoFit/>
          </a:bodyPr>
          <a:lstStyle/>
          <a:p>
            <a:pPr>
              <a:spcAft>
                <a:spcPts val="800"/>
              </a:spcAft>
            </a:pPr>
            <a:r>
              <a:rPr sz="1600" b="1">
                <a:solidFill>
                  <a:srgbClr val="1D5C4D"/>
                </a:solidFill>
                <a:latin typeface="Segoe UI"/>
              </a:rPr>
              <a:t>How we tested</a:t>
            </a:r>
          </a:p>
          <a:p>
            <a:pPr>
              <a:spcAft>
                <a:spcPts val="900"/>
              </a:spcAft>
            </a:pPr>
            <a:r>
              <a:rPr sz="1350" b="0">
                <a:solidFill>
                  <a:srgbClr val="1F2733"/>
                </a:solidFill>
                <a:latin typeface="Segoe UI"/>
              </a:rPr>
              <a:t>Financial model unit-tested against hand-computed values.</a:t>
            </a:r>
          </a:p>
          <a:p>
            <a:pPr>
              <a:spcAft>
                <a:spcPts val="900"/>
              </a:spcAft>
            </a:pPr>
            <a:r>
              <a:rPr sz="1350" b="0">
                <a:solidFill>
                  <a:srgbClr val="1F2733"/>
                </a:solidFill>
                <a:latin typeface="Segoe UI"/>
              </a:rPr>
              <a:t>Two near-opposite jurisdictions used as the research test: Austin and Los Angeles.</a:t>
            </a:r>
          </a:p>
          <a:p>
            <a:pPr>
              <a:spcAft>
                <a:spcPts val="900"/>
              </a:spcAft>
            </a:pPr>
            <a:r>
              <a:rPr sz="1350" b="0">
                <a:solidFill>
                  <a:srgbClr val="1F2733"/>
                </a:solidFill>
                <a:latin typeface="Segoe UI"/>
              </a:rPr>
              <a:t>Tests force research off, so running the suite can never spend real money.</a:t>
            </a:r>
          </a:p>
          <a:p>
            <a:pPr>
              <a:spcAft>
                <a:spcPts val="900"/>
              </a:spcAft>
            </a:pPr>
            <a:r>
              <a:rPr sz="1350" b="0">
                <a:solidFill>
                  <a:srgbClr val="1F2733"/>
                </a:solidFill>
                <a:latin typeface="Segoe UI"/>
              </a:rPr>
              <a:t>Bugs the tests caught: a lock deadlock that hung the server, and a stale note that blocked its own refresh.</a:t>
            </a:r>
          </a:p>
        </p:txBody>
      </p:sp>
      <p:sp>
        <p:nvSpPr>
          <p:cNvPr id="9" name="TextBox 8"/>
          <p:cNvSpPr txBox="1"/>
          <p:nvPr/>
        </p:nvSpPr>
        <p:spPr>
          <a:xfrm>
            <a:off x="6355080" y="2971800"/>
            <a:ext cx="5257800" cy="3108960"/>
          </a:xfrm>
          <a:prstGeom prst="rect">
            <a:avLst/>
          </a:prstGeom>
          <a:noFill/>
        </p:spPr>
        <p:txBody>
          <a:bodyPr wrap="square">
            <a:spAutoFit/>
          </a:bodyPr>
          <a:lstStyle/>
          <a:p>
            <a:pPr>
              <a:spcAft>
                <a:spcPts val="800"/>
              </a:spcAft>
            </a:pPr>
            <a:r>
              <a:rPr sz="1600" b="1">
                <a:solidFill>
                  <a:srgbClr val="1D5C4D"/>
                </a:solidFill>
                <a:latin typeface="Segoe UI"/>
              </a:rPr>
              <a:t>Security decisions</a:t>
            </a:r>
          </a:p>
          <a:p>
            <a:pPr>
              <a:spcAft>
                <a:spcPts val="900"/>
              </a:spcAft>
            </a:pPr>
            <a:r>
              <a:rPr sz="1350" b="0">
                <a:solidFill>
                  <a:srgbClr val="1F2733"/>
                </a:solidFill>
                <a:latin typeface="Segoe UI"/>
              </a:rPr>
              <a:t>Path traversal blocked - notes cannot escape the knowledge bank.</a:t>
            </a:r>
          </a:p>
          <a:p>
            <a:pPr>
              <a:spcAft>
                <a:spcPts val="900"/>
              </a:spcAft>
            </a:pPr>
            <a:r>
              <a:rPr sz="1350" b="0">
                <a:solidFill>
                  <a:srgbClr val="1F2733"/>
                </a:solidFill>
                <a:latin typeface="Segoe UI"/>
              </a:rPr>
              <a:t>Note text is escaped before rendering, so a document cannot inject markup into a brief a client opens.</a:t>
            </a:r>
          </a:p>
          <a:p>
            <a:pPr>
              <a:spcAft>
                <a:spcPts val="900"/>
              </a:spcAft>
            </a:pPr>
            <a:r>
              <a:rPr sz="1350" b="0">
                <a:solidFill>
                  <a:srgbClr val="1F2733"/>
                </a:solidFill>
                <a:latin typeface="Segoe UI"/>
              </a:rPr>
              <a:t>The research agent runs read-only; the app decides what reaches disk, so a reply that is not a policy note is never saved.</a:t>
            </a:r>
          </a:p>
          <a:p>
            <a:pPr>
              <a:spcAft>
                <a:spcPts val="900"/>
              </a:spcAft>
            </a:pPr>
            <a:r>
              <a:rPr sz="1350" b="0">
                <a:solidFill>
                  <a:srgbClr val="1F2733"/>
                </a:solidFill>
                <a:latin typeface="Segoe UI"/>
              </a:rPr>
              <a:t>Secrets live in a git-ignored .env; the app runs fully offline without 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1D5C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1002975" cy="1005840"/>
          </a:xfrm>
          <a:prstGeom prst="rect">
            <a:avLst/>
          </a:prstGeom>
          <a:noFill/>
        </p:spPr>
        <p:txBody>
          <a:bodyPr wrap="square">
            <a:spAutoFit/>
          </a:bodyPr>
          <a:lstStyle/>
          <a:p>
            <a:pPr>
              <a:spcAft>
                <a:spcPts val="200"/>
              </a:spcAft>
            </a:pPr>
            <a:r>
              <a:rPr sz="1200" b="1">
                <a:solidFill>
                  <a:srgbClr val="1D5C4D"/>
                </a:solidFill>
                <a:latin typeface="Segoe UI"/>
              </a:rPr>
              <a:t>REFLECTIONS</a:t>
            </a:r>
          </a:p>
          <a:p>
            <a:pPr>
              <a:spcAft>
                <a:spcPts val="0"/>
              </a:spcAft>
            </a:pPr>
            <a:r>
              <a:rPr sz="3000" b="1">
                <a:solidFill>
                  <a:srgbClr val="1F2733"/>
                </a:solidFill>
                <a:latin typeface="Segoe UI"/>
              </a:rPr>
              <a:t>What we learned</a:t>
            </a:r>
          </a:p>
        </p:txBody>
      </p:sp>
      <p:sp>
        <p:nvSpPr>
          <p:cNvPr id="4" name="TextBox 3"/>
          <p:cNvSpPr txBox="1"/>
          <p:nvPr/>
        </p:nvSpPr>
        <p:spPr>
          <a:xfrm>
            <a:off x="594360" y="1481328"/>
            <a:ext cx="3520440" cy="4572000"/>
          </a:xfrm>
          <a:prstGeom prst="rect">
            <a:avLst/>
          </a:prstGeom>
          <a:noFill/>
        </p:spPr>
        <p:txBody>
          <a:bodyPr wrap="square">
            <a:spAutoFit/>
          </a:bodyPr>
          <a:lstStyle/>
          <a:p>
            <a:pPr>
              <a:spcAft>
                <a:spcPts val="800"/>
              </a:spcAft>
            </a:pPr>
            <a:r>
              <a:rPr sz="1600" b="1">
                <a:solidFill>
                  <a:srgbClr val="1D5C4D"/>
                </a:solidFill>
                <a:latin typeface="Segoe UI"/>
              </a:rPr>
              <a:t>Worked</a:t>
            </a:r>
          </a:p>
          <a:p>
            <a:pPr>
              <a:spcAft>
                <a:spcPts val="900"/>
              </a:spcAft>
            </a:pPr>
            <a:r>
              <a:rPr sz="1350" b="0">
                <a:solidFill>
                  <a:srgbClr val="1F2733"/>
                </a:solidFill>
                <a:latin typeface="Segoe UI"/>
              </a:rPr>
              <a:t>Writing standards instead of steps. The Skill says what good research looks like; the agent works out how.</a:t>
            </a:r>
          </a:p>
          <a:p>
            <a:pPr>
              <a:spcAft>
                <a:spcPts val="900"/>
              </a:spcAft>
            </a:pPr>
            <a:r>
              <a:rPr sz="1350" b="0">
                <a:solidFill>
                  <a:srgbClr val="1F2733"/>
                </a:solidFill>
                <a:latin typeface="Segoe UI"/>
              </a:rPr>
              <a:t>Making provenance a code boundary rather than a naming convention.</a:t>
            </a:r>
          </a:p>
          <a:p>
            <a:pPr>
              <a:spcAft>
                <a:spcPts val="900"/>
              </a:spcAft>
            </a:pPr>
            <a:r>
              <a:rPr sz="1350" b="0">
                <a:solidFill>
                  <a:srgbClr val="1F2733"/>
                </a:solidFill>
                <a:latin typeface="Segoe UI"/>
              </a:rPr>
              <a:t>Keeping the AI out of the numbers.</a:t>
            </a:r>
          </a:p>
        </p:txBody>
      </p:sp>
      <p:sp>
        <p:nvSpPr>
          <p:cNvPr id="5" name="TextBox 4"/>
          <p:cNvSpPr txBox="1"/>
          <p:nvPr/>
        </p:nvSpPr>
        <p:spPr>
          <a:xfrm>
            <a:off x="4343400" y="1481328"/>
            <a:ext cx="3520440" cy="4572000"/>
          </a:xfrm>
          <a:prstGeom prst="rect">
            <a:avLst/>
          </a:prstGeom>
          <a:noFill/>
        </p:spPr>
        <p:txBody>
          <a:bodyPr wrap="square">
            <a:spAutoFit/>
          </a:bodyPr>
          <a:lstStyle/>
          <a:p>
            <a:pPr>
              <a:spcAft>
                <a:spcPts val="800"/>
              </a:spcAft>
            </a:pPr>
            <a:r>
              <a:rPr sz="1600" b="1">
                <a:solidFill>
                  <a:srgbClr val="B3261E"/>
                </a:solidFill>
                <a:latin typeface="Segoe UI"/>
              </a:rPr>
              <a:t>Did not</a:t>
            </a:r>
          </a:p>
          <a:p>
            <a:pPr>
              <a:spcAft>
                <a:spcPts val="900"/>
              </a:spcAft>
            </a:pPr>
            <a:r>
              <a:rPr sz="1350" b="0">
                <a:solidFill>
                  <a:srgbClr val="1F2733"/>
                </a:solidFill>
                <a:latin typeface="Segoe UI"/>
              </a:rPr>
              <a:t>First research design needed an API key per user. Wrong shape - the Skill already ran inside tools people had.</a:t>
            </a:r>
          </a:p>
          <a:p>
            <a:pPr>
              <a:spcAft>
                <a:spcPts val="900"/>
              </a:spcAft>
            </a:pPr>
            <a:r>
              <a:rPr sz="1350" b="0">
                <a:solidFill>
                  <a:srgbClr val="1F2733"/>
                </a:solidFill>
                <a:latin typeface="Segoe UI"/>
              </a:rPr>
              <a:t>A stale server made fixed code look broken for an hour.</a:t>
            </a:r>
          </a:p>
          <a:p>
            <a:pPr>
              <a:spcAft>
                <a:spcPts val="900"/>
              </a:spcAft>
            </a:pPr>
            <a:r>
              <a:rPr sz="1350" b="0">
                <a:solidFill>
                  <a:srgbClr val="1F2733"/>
                </a:solidFill>
                <a:latin typeface="Segoe UI"/>
              </a:rPr>
              <a:t>Documents users supply are often scans; the parser silently ignored them until we surfaced it.</a:t>
            </a:r>
          </a:p>
        </p:txBody>
      </p:sp>
      <p:sp>
        <p:nvSpPr>
          <p:cNvPr id="6" name="TextBox 5"/>
          <p:cNvSpPr txBox="1"/>
          <p:nvPr/>
        </p:nvSpPr>
        <p:spPr>
          <a:xfrm>
            <a:off x="8092440" y="1481328"/>
            <a:ext cx="3520440" cy="4572000"/>
          </a:xfrm>
          <a:prstGeom prst="rect">
            <a:avLst/>
          </a:prstGeom>
          <a:noFill/>
        </p:spPr>
        <p:txBody>
          <a:bodyPr wrap="square">
            <a:spAutoFit/>
          </a:bodyPr>
          <a:lstStyle/>
          <a:p>
            <a:pPr>
              <a:spcAft>
                <a:spcPts val="800"/>
              </a:spcAft>
            </a:pPr>
            <a:r>
              <a:rPr sz="1600" b="1">
                <a:solidFill>
                  <a:srgbClr val="5B6B7C"/>
                </a:solidFill>
                <a:latin typeface="Segoe UI"/>
              </a:rPr>
              <a:t>Next</a:t>
            </a:r>
          </a:p>
          <a:p>
            <a:pPr>
              <a:spcAft>
                <a:spcPts val="900"/>
              </a:spcAft>
            </a:pPr>
            <a:r>
              <a:rPr sz="1350" b="0">
                <a:solidFill>
                  <a:srgbClr val="1F2733"/>
                </a:solidFill>
                <a:latin typeface="Segoe UI"/>
              </a:rPr>
              <a:t>OCR so scanned HOA declarations parse themselves.</a:t>
            </a:r>
          </a:p>
          <a:p>
            <a:pPr>
              <a:spcAft>
                <a:spcPts val="900"/>
              </a:spcAft>
            </a:pPr>
            <a:r>
              <a:rPr sz="1350" b="0">
                <a:solidFill>
                  <a:srgbClr val="1F2733"/>
                </a:solidFill>
                <a:latin typeface="Segoe UI"/>
              </a:rPr>
              <a:t>Comparison view across several candidate properties.</a:t>
            </a:r>
          </a:p>
          <a:p>
            <a:pPr>
              <a:spcAft>
                <a:spcPts val="900"/>
              </a:spcAft>
            </a:pPr>
            <a:r>
              <a:rPr sz="1350" b="0">
                <a:solidFill>
                  <a:srgbClr val="1F2733"/>
                </a:solidFill>
                <a:latin typeface="Segoe UI"/>
              </a:rPr>
              <a:t>Scheduled re-research so notes refresh before they age out.</a:t>
            </a:r>
          </a:p>
        </p:txBody>
      </p:sp>
      <p:sp>
        <p:nvSpPr>
          <p:cNvPr id="7" name="Rectangle 6"/>
          <p:cNvSpPr/>
          <p:nvPr/>
        </p:nvSpPr>
        <p:spPr>
          <a:xfrm>
            <a:off x="0" y="5989320"/>
            <a:ext cx="12191695" cy="868680"/>
          </a:xfrm>
          <a:prstGeom prst="rect">
            <a:avLst/>
          </a:prstGeom>
          <a:solidFill>
            <a:srgbClr val="1D5C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144768"/>
            <a:ext cx="11002975" cy="548640"/>
          </a:xfrm>
          <a:prstGeom prst="rect">
            <a:avLst/>
          </a:prstGeom>
          <a:noFill/>
        </p:spPr>
        <p:txBody>
          <a:bodyPr wrap="square">
            <a:spAutoFit/>
          </a:bodyPr>
          <a:lstStyle/>
          <a:p>
            <a:pPr algn="ctr">
              <a:spcAft>
                <a:spcPts val="0"/>
              </a:spcAft>
            </a:pPr>
            <a:r>
              <a:rPr sz="1300" b="1">
                <a:solidFill>
                  <a:srgbClr val="FFFFFF"/>
                </a:solidFill>
                <a:latin typeface="Segoe UI"/>
              </a:rPr>
              <a:t>github.com/AsisNath/Real-Estate-Investment-Decision-Support   ·   Team 5 · Ashish Nath · Justin Kretschman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